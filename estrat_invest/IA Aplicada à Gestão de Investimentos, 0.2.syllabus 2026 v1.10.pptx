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94362" r:id="rId1"/>
    <p:sldMasterId id="2147494433" r:id="rId2"/>
  </p:sldMasterIdLst>
  <p:notesMasterIdLst>
    <p:notesMasterId r:id="rId90"/>
  </p:notesMasterIdLst>
  <p:handoutMasterIdLst>
    <p:handoutMasterId r:id="rId91"/>
  </p:handoutMasterIdLst>
  <p:sldIdLst>
    <p:sldId id="2747" r:id="rId3"/>
    <p:sldId id="2634" r:id="rId4"/>
    <p:sldId id="261" r:id="rId5"/>
    <p:sldId id="2477" r:id="rId6"/>
    <p:sldId id="2702" r:id="rId7"/>
    <p:sldId id="2515" r:id="rId8"/>
    <p:sldId id="2516" r:id="rId9"/>
    <p:sldId id="2517" r:id="rId10"/>
    <p:sldId id="2555" r:id="rId11"/>
    <p:sldId id="2787" r:id="rId12"/>
    <p:sldId id="2788" r:id="rId13"/>
    <p:sldId id="2789" r:id="rId14"/>
    <p:sldId id="2790" r:id="rId15"/>
    <p:sldId id="2791" r:id="rId16"/>
    <p:sldId id="2792" r:id="rId17"/>
    <p:sldId id="2793" r:id="rId18"/>
    <p:sldId id="2794" r:id="rId19"/>
    <p:sldId id="2795" r:id="rId20"/>
    <p:sldId id="2796" r:id="rId21"/>
    <p:sldId id="2797" r:id="rId22"/>
    <p:sldId id="2798" r:id="rId23"/>
    <p:sldId id="2749" r:id="rId24"/>
    <p:sldId id="2750" r:id="rId25"/>
    <p:sldId id="2751" r:id="rId26"/>
    <p:sldId id="2752" r:id="rId27"/>
    <p:sldId id="2753" r:id="rId28"/>
    <p:sldId id="2754" r:id="rId29"/>
    <p:sldId id="2755" r:id="rId30"/>
    <p:sldId id="2756" r:id="rId31"/>
    <p:sldId id="2757" r:id="rId32"/>
    <p:sldId id="2758" r:id="rId33"/>
    <p:sldId id="2759" r:id="rId34"/>
    <p:sldId id="2760" r:id="rId35"/>
    <p:sldId id="268" r:id="rId36"/>
    <p:sldId id="2761" r:id="rId37"/>
    <p:sldId id="2762" r:id="rId38"/>
    <p:sldId id="2763" r:id="rId39"/>
    <p:sldId id="2764" r:id="rId40"/>
    <p:sldId id="2765" r:id="rId41"/>
    <p:sldId id="2766" r:id="rId42"/>
    <p:sldId id="2767" r:id="rId43"/>
    <p:sldId id="2768" r:id="rId44"/>
    <p:sldId id="2769" r:id="rId45"/>
    <p:sldId id="2770" r:id="rId46"/>
    <p:sldId id="2771" r:id="rId47"/>
    <p:sldId id="2772" r:id="rId48"/>
    <p:sldId id="2773" r:id="rId49"/>
    <p:sldId id="2774" r:id="rId50"/>
    <p:sldId id="2775" r:id="rId51"/>
    <p:sldId id="2776" r:id="rId52"/>
    <p:sldId id="2777" r:id="rId53"/>
    <p:sldId id="2778" r:id="rId54"/>
    <p:sldId id="2779" r:id="rId55"/>
    <p:sldId id="2780" r:id="rId56"/>
    <p:sldId id="2781" r:id="rId57"/>
    <p:sldId id="2782" r:id="rId58"/>
    <p:sldId id="2783" r:id="rId59"/>
    <p:sldId id="2784" r:id="rId60"/>
    <p:sldId id="2785" r:id="rId61"/>
    <p:sldId id="2786" r:id="rId62"/>
    <p:sldId id="2733" r:id="rId63"/>
    <p:sldId id="2732" r:id="rId64"/>
    <p:sldId id="2734" r:id="rId65"/>
    <p:sldId id="2735" r:id="rId66"/>
    <p:sldId id="2736" r:id="rId67"/>
    <p:sldId id="2737" r:id="rId68"/>
    <p:sldId id="2738" r:id="rId69"/>
    <p:sldId id="2739" r:id="rId70"/>
    <p:sldId id="2740" r:id="rId71"/>
    <p:sldId id="2741" r:id="rId72"/>
    <p:sldId id="2742" r:id="rId73"/>
    <p:sldId id="2743" r:id="rId74"/>
    <p:sldId id="2744" r:id="rId75"/>
    <p:sldId id="2745" r:id="rId76"/>
    <p:sldId id="2746" r:id="rId77"/>
    <p:sldId id="256" r:id="rId78"/>
    <p:sldId id="257" r:id="rId79"/>
    <p:sldId id="258" r:id="rId80"/>
    <p:sldId id="259" r:id="rId81"/>
    <p:sldId id="260" r:id="rId82"/>
    <p:sldId id="2748" r:id="rId83"/>
    <p:sldId id="262" r:id="rId84"/>
    <p:sldId id="263" r:id="rId85"/>
    <p:sldId id="264" r:id="rId86"/>
    <p:sldId id="265" r:id="rId87"/>
    <p:sldId id="266" r:id="rId88"/>
    <p:sldId id="267" r:id="rId89"/>
  </p:sldIdLst>
  <p:sldSz cx="12192000" cy="6858000"/>
  <p:notesSz cx="6797675" cy="9874250"/>
  <p:embeddedFontLst>
    <p:embeddedFont>
      <p:font typeface="Corbel" panose="020B0503020204020204" pitchFamily="34" charset="0"/>
      <p:regular r:id="rId92"/>
      <p:bold r:id="rId93"/>
      <p:italic r:id="rId94"/>
      <p:boldItalic r:id="rId95"/>
    </p:embeddedFont>
    <p:embeddedFont>
      <p:font typeface="Myriad Pro" panose="020B0503030403020204" charset="0"/>
      <p:regular r:id="rId96"/>
      <p:bold r:id="rId97"/>
      <p:italic r:id="rId98"/>
      <p:boldItalic r:id="rId99"/>
    </p:embeddedFont>
    <p:embeddedFont>
      <p:font typeface="Webdings" panose="05030102010509060703" pitchFamily="18" charset="2"/>
      <p:regular r:id="rId100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Introdução ao Curso" id="{D6F5B45D-2512-49AE-8EF3-A68BBCB32B7F}">
          <p14:sldIdLst>
            <p14:sldId id="2747"/>
            <p14:sldId id="2634"/>
          </p14:sldIdLst>
        </p14:section>
        <p14:section name="Cenário Tecnológico" id="{E0DDEFAA-30CA-4337-AA41-7A423BF954B1}">
          <p14:sldIdLst>
            <p14:sldId id="261"/>
            <p14:sldId id="2477"/>
            <p14:sldId id="2702"/>
            <p14:sldId id="2515"/>
            <p14:sldId id="2516"/>
            <p14:sldId id="2517"/>
            <p14:sldId id="2555"/>
          </p14:sldIdLst>
        </p14:section>
        <p14:section name="A Estratégia Perfeita?" id="{0BD3A6EC-B5DE-4E76-BA52-0271684FC2AF}">
          <p14:sldIdLst>
            <p14:sldId id="2787"/>
            <p14:sldId id="2788"/>
            <p14:sldId id="2789"/>
            <p14:sldId id="2790"/>
            <p14:sldId id="2791"/>
            <p14:sldId id="2792"/>
            <p14:sldId id="2793"/>
            <p14:sldId id="2794"/>
            <p14:sldId id="2795"/>
            <p14:sldId id="2796"/>
            <p14:sldId id="2797"/>
            <p14:sldId id="2798"/>
          </p14:sldIdLst>
        </p14:section>
        <p14:section name="Sinais de Investimento com Machine Learning" id="{5C50E2C2-1AFA-4767-B916-93F3156B50E4}">
          <p14:sldIdLst>
            <p14:sldId id="2749"/>
            <p14:sldId id="2750"/>
            <p14:sldId id="2751"/>
            <p14:sldId id="2752"/>
            <p14:sldId id="2753"/>
            <p14:sldId id="2754"/>
            <p14:sldId id="2755"/>
            <p14:sldId id="2756"/>
            <p14:sldId id="2757"/>
            <p14:sldId id="2758"/>
            <p14:sldId id="2759"/>
            <p14:sldId id="2760"/>
            <p14:sldId id="268"/>
          </p14:sldIdLst>
        </p14:section>
        <p14:section name="Recomendação de Carteiras" id="{62C2E38F-9900-4A2F-9E06-3C92FD3CDF15}">
          <p14:sldIdLst>
            <p14:sldId id="2761"/>
            <p14:sldId id="2762"/>
            <p14:sldId id="2763"/>
            <p14:sldId id="2764"/>
            <p14:sldId id="2765"/>
            <p14:sldId id="2766"/>
            <p14:sldId id="2767"/>
            <p14:sldId id="2768"/>
            <p14:sldId id="2769"/>
            <p14:sldId id="2770"/>
            <p14:sldId id="2771"/>
            <p14:sldId id="2772"/>
          </p14:sldIdLst>
        </p14:section>
        <p14:section name="Análise de Inv.com LLMs, Intro RAG" id="{B01E6DB1-0042-4C53-9F90-41239BDF8541}">
          <p14:sldIdLst>
            <p14:sldId id="2773"/>
            <p14:sldId id="2774"/>
            <p14:sldId id="2775"/>
            <p14:sldId id="2776"/>
            <p14:sldId id="2777"/>
            <p14:sldId id="2778"/>
            <p14:sldId id="2779"/>
            <p14:sldId id="2780"/>
            <p14:sldId id="2781"/>
            <p14:sldId id="2782"/>
            <p14:sldId id="2783"/>
            <p14:sldId id="2784"/>
            <p14:sldId id="2785"/>
          </p14:sldIdLst>
        </p14:section>
        <p14:section name="Backup Slides" id="{33944E29-A700-442B-8611-21B2A9A9D957}">
          <p14:sldIdLst>
            <p14:sldId id="2786"/>
          </p14:sldIdLst>
        </p14:section>
        <p14:section name="Gestão de Portfolio e Estratégias de Trading" id="{F3FC2E79-7EF3-4591-99B5-659B7D175D2A}">
          <p14:sldIdLst>
            <p14:sldId id="2733"/>
            <p14:sldId id="2732"/>
            <p14:sldId id="2734"/>
            <p14:sldId id="2735"/>
            <p14:sldId id="2736"/>
            <p14:sldId id="2737"/>
            <p14:sldId id="2738"/>
            <p14:sldId id="2739"/>
            <p14:sldId id="2740"/>
            <p14:sldId id="2741"/>
            <p14:sldId id="2742"/>
            <p14:sldId id="2743"/>
            <p14:sldId id="2744"/>
            <p14:sldId id="2745"/>
            <p14:sldId id="2746"/>
          </p14:sldIdLst>
        </p14:section>
        <p14:section name="A Estratégia Perfeita Não Existe" id="{E340157A-9D94-4E7C-AEAE-82A2CE72F8DF}">
          <p14:sldIdLst>
            <p14:sldId id="256"/>
            <p14:sldId id="257"/>
            <p14:sldId id="258"/>
            <p14:sldId id="259"/>
            <p14:sldId id="260"/>
            <p14:sldId id="2748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1FC"/>
    <a:srgbClr val="E6E6E6"/>
    <a:srgbClr val="DBA000"/>
    <a:srgbClr val="000066"/>
    <a:srgbClr val="003366"/>
    <a:srgbClr val="D9D9D9"/>
    <a:srgbClr val="CDDDF2"/>
    <a:srgbClr val="CCECFF"/>
    <a:srgbClr val="E8EFF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236" autoAdjust="0"/>
    <p:restoredTop sz="95332" autoAdjust="0"/>
  </p:normalViewPr>
  <p:slideViewPr>
    <p:cSldViewPr>
      <p:cViewPr varScale="1">
        <p:scale>
          <a:sx n="78" d="100"/>
          <a:sy n="78" d="100"/>
        </p:scale>
        <p:origin x="67" y="33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90584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40" y="48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notesMaster" Target="notesMasters/notesMaster1.xml"/><Relationship Id="rId95" Type="http://schemas.openxmlformats.org/officeDocument/2006/relationships/font" Target="fonts/font4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handoutMaster" Target="handoutMasters/handoutMaster1.xml"/><Relationship Id="rId9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font" Target="fonts/font3.fntdata"/><Relationship Id="rId99" Type="http://schemas.openxmlformats.org/officeDocument/2006/relationships/font" Target="fonts/font8.fntdata"/><Relationship Id="rId10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font" Target="fonts/font6.fntdata"/><Relationship Id="rId104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font" Target="fonts/font2.fntdata"/><Relationship Id="rId98" Type="http://schemas.openxmlformats.org/officeDocument/2006/relationships/font" Target="fonts/font7.fntdata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01250994091099E-2"/>
          <c:y val="0"/>
          <c:w val="0.929967016946465"/>
          <c:h val="0.9103646653543310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c:spPr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33</c:v>
                </c:pt>
                <c:pt idx="7">
                  <c:v>40</c:v>
                </c:pt>
                <c:pt idx="8">
                  <c:v>50</c:v>
                </c:pt>
                <c:pt idx="9">
                  <c:v>67</c:v>
                </c:pt>
                <c:pt idx="10">
                  <c:v>90</c:v>
                </c:pt>
                <c:pt idx="11">
                  <c:v>120</c:v>
                </c:pt>
                <c:pt idx="1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1-4168-9E2A-DEC8D8D94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1-D4F1-4168-9E2A-DEC8D8D94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051840"/>
        <c:axId val="171385984"/>
      </c:areaChart>
      <c:catAx>
        <c:axId val="172051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171385984"/>
        <c:crosses val="autoZero"/>
        <c:auto val="1"/>
        <c:lblAlgn val="ctr"/>
        <c:lblOffset val="100"/>
        <c:noMultiLvlLbl val="0"/>
      </c:catAx>
      <c:valAx>
        <c:axId val="1713859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205184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>
        <a:defRPr sz="1796"/>
      </a:pPr>
      <a:endParaRPr lang="pt-B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3916CC5-986B-4CB6-BFF2-C58EADCD0AE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23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6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9538" y="741363"/>
            <a:ext cx="657860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578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 caso de forma neutra. Não use ainda as palavras auditoria, vazamento ou contaminação. A turma assumirá o papel de um comitê de investimentos que recebeu uma proposta externa.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7991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a primeira recomendação será registrada antes de qualquer verificação independente. O objetivo desta etapa é observar como o grupo decide diante de um resultado quantitativo atraente.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5432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a promessa da consultoria sem contestá-la. Não peça ainda uma votação definitiva. Informe apenas que essas serão as quatro alternativas do memorando.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3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Descreva o procedimento exatamente como a consultoria o informou. Não discuta a adequação da partição, dos indicadores ou do backtest. Essas questões surgirão somente depois do memorando.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8827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PARE O POWERPOINT NESTE SLIDE. Abra o RStudio e execute com a turma as seções 0 a 5 do script dos alunos. Mostre as métricas e o gráfico sem abrir o roteiro do professor e sem comentar possíveis falhas.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844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este slide depois da reprodução no R. Conceda de 20 a 25 minutos para o memorando. Cada grupo deve registrar sua decisão por escrito antes de ouvir os demais.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9285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Registre no quadro quantos grupos escolheram aprovar, piloto, esclarecimentos ou rejeição. Peça as justificativas antes de mostrar qualquer problema. Em seguida, abra o roteiro do professor e inicie a Parte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1562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R, execute a seção 4 do roteiro do professor. Mostre a tabela com início e fim e o gráfico das datas. Pergunte aos grupos se essa evidência altera a confiança na recomendação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1170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Execute as seções 5 e 6 do roteiro do professor. Revele primeiro as correlações, depois o all.equal() e, por fim, os coeficientes. Diferencie vazamento direto de pré-processamento calculado com informação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4631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Execute a seção 7 do roteiro do professor. Desenhe verbalmente o relógio e mostre as primeiras linhas de retorno_bova_futuro e retorno_executavel. Depois discuta o efeito dos custos de troca.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7915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Execute as seções 8 a 11 do roteiro do professor. Enfatize que o algoritmo e o limiar permanecem iguais. A diferença decorre da correção metodológica, não da busca de um modelo mais conveniente.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067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Repita a votação inicial e compare os resultados. Termine perguntando qual evidência mais alterou a decisão. Uma conclusão negativa sobre implantação representa sucesso da análise quando evita capital mal alocado.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9852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exercício começa onde a auditoria terminou. O relógio e a base já respeitam 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5568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pesos entre vários ativos pertencem ao Exercício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836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Peça que os grupos anotem sua expectativa antes de abrir o teste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6429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Reforce a diferença entre atributo em t e retorno realizado em t+1.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083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Pergunte se um algoritmo mais complexo precisa vencer em AUC, calibração ou retorno líquido.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197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o gráfico de calibração por decis gerado pelo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0628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o limiar transforma uma previsão probabilística em política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9902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Discuta o risco de sobreajustar o próprio limiar. Uma extensão natural é o walk-forward.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99832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Só avance para o bloco 9 depois que os grupos registrarem suas decisões.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010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use apenas retorno acumulado. Compare risco, drawdown, exposição e número de operações.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2832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o mapa de sensibilidade do script. Procure platôs, não apenas o maior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89745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Peça aos grupos que expliquem a principal variável sem usar linguagem causal indevida.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6642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grupo entrega uma tabela ou um slide com sua decisão e as condições que poderiam alterá-la.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7684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foco muda do melhor algoritmo para a política de alocação.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0799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universo pequeno permite concentrar a discussão no mecanismo de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58724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count(cotacoes, ativo) e algumas datas da base longa.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47626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foco não é repetir a competição de modelos do Exercício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88924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Discuta por que uma probabilidade isolada não deveria definir o peso.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54861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Pergunte se esses limites bastam para representar adequadamente cada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572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stopifnot() e explique o papel dos testes de consistência em pipelines financeiros.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92491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Aponte que o rebalanceamento diário é uma hipótese forte e deve entrar na crítica.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4834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os benchmarks no mesmo período. Discuta também a ausência de custos neles como simplificação do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29161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Peça aos grupos para escolher uma métrica principal e justificar por que as demais ainda importam.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40560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recomendação não deve ser apresentada como automática. Estruture a fala como comitê de investimentos.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75425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Distribua os três perfis entre os grupos e conduza perguntas cruzadas como em um comitê.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50167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o notebook no Colab com GPU. O objetivo é estudar o pipeline de RAG e seus controles.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79762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Esclareça que a qualidade do texto não substitui a qualidade da recuperação.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94832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Percorra o fluxo completo antes de executar as células. Diferencie indexação e geração.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71483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Peça que os alunos inspecionem o texto extraído antes de criar os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06424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Altere os parâmetros em uma cópia e observe como mudam os trechos recuperados.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73501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Destaque que a indexação é determinística para os vetores produzidos. O principal risco está na representação e no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8379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Leia os trechos em voz alta. Verifique relevância, redundância e cobertura da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87618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a GPU disponível não comportar o modelo, reduza max_new_tokens ou use uma sessão com mais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0500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prompt reduz, mas não elimina alucinações. A auditoria continua necessária.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28845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trate a forma de memorando como garantia de qualidade. Verifique cada afirmação.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89430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afirmação por afirmação. Evite avaliar apenas fluência ou tamanho do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59088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 próprio Phi-3 como segunda leitura, mas exija revisão humana do resultado da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08701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Encerre pedindo uma limitação técnica e uma limitação de governança que impediriam uso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1597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 caso como se a estratégia viesse de uma consultoria. Não revele as falhas antes da atividade de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38926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Destaque a fronteira do exercício. A seleção sistemática de modelos e limiares aparecerá no Exercício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29542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Peça uma votação inicial: implantar, rejeitar ou auditar. Registre a resposta para comparar no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95634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Execute os primeiros blocos do script sem explicar as falhas. A turma deve descobri-las.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08534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os intervalos de datas de treino e teste. Pergunte que capacidade preditiva está sendo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81134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all.equal() e as correlações do script como provas. Diferencie vazamento direto e indireto.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81915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Divida a turma em grupos. Reserve de 20 a 25 minutos para o parecer antes da revelação.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59524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Desenhe verbalmente a linha do tempo. A diferença entre previsão e execução costuma ser o ponto central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360953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objetivo não é otimizar o baseline. A comparação deve isolar o efeito da correção metodológica.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028799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Evite prometer que o baseline corrigido terá desempenho positivo. Um resultado fraco pode ser a conclusão correta.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74030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grupo deve concluir com uma decisão explícita e justificá-la usando o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625331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Retome a votação inicial e compare com a decisão final. Faça a ponte para o Exercício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824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4343401"/>
            <a:ext cx="10363200" cy="688975"/>
          </a:xfrm>
        </p:spPr>
        <p:txBody>
          <a:bodyPr anchor="t"/>
          <a:lstStyle>
            <a:lvl1pPr algn="ctr">
              <a:defRPr sz="3600" b="1" baseline="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r>
              <a:rPr lang="en-US" dirty="0"/>
              <a:t> do </a:t>
            </a:r>
            <a:r>
              <a:rPr lang="en-US" dirty="0" err="1"/>
              <a:t>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5251287"/>
            <a:ext cx="9448800" cy="685800"/>
          </a:xfrm>
        </p:spPr>
        <p:txBody>
          <a:bodyPr/>
          <a:lstStyle>
            <a:lvl1pPr marL="0" indent="0" algn="ctr">
              <a:buNone/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r>
              <a:rPr lang="en-US" dirty="0"/>
              <a:t> do </a:t>
            </a:r>
            <a:r>
              <a:rPr lang="en-US" dirty="0" err="1"/>
              <a:t>subtítulo</a:t>
            </a:r>
            <a:endParaRPr lang="en-US" dirty="0"/>
          </a:p>
        </p:txBody>
      </p:sp>
      <p:sp>
        <p:nvSpPr>
          <p:cNvPr id="4" name="CaixaDeTexto 3"/>
          <p:cNvSpPr txBox="1"/>
          <p:nvPr userDrawn="1"/>
        </p:nvSpPr>
        <p:spPr>
          <a:xfrm>
            <a:off x="609601" y="6172200"/>
            <a:ext cx="655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FFFF"/>
                </a:solidFill>
                <a:latin typeface="Calibri"/>
              </a:rPr>
              <a:t>Prof.Gustavo</a:t>
            </a:r>
            <a:r>
              <a:rPr lang="pt-BR" dirty="0">
                <a:solidFill>
                  <a:srgbClr val="FFFFFF"/>
                </a:solidFill>
                <a:latin typeface="Calibri"/>
              </a:rPr>
              <a:t> Corrêa Mirapalheta – gustavo.mirapalheta@gmail.com</a:t>
            </a:r>
            <a:endParaRPr lang="en-US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2290" name="Picture 2" descr="http://www.ivizsecurity.com/blog/wp-content/uploads/2013/11/Storm-in-Security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94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_e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tângulo 3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9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_texto_e_comandos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just">
              <a:defRPr/>
            </a:lvl1pPr>
            <a:lvl2pPr algn="just"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tângulo 3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2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4" name="Retângulo 3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9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_duas_colunas_sem_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4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_duas_colunas_comandos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3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09FB070-6BC4-6BD6-830A-DADD77A54436}"/>
              </a:ext>
            </a:extLst>
          </p:cNvPr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676400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676400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207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80DEFD0-34AC-496A-B659-4CE344A0CD84}" type="datetimeFigureOut">
              <a:rPr lang="pt-B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29/09/2026</a:t>
            </a:fld>
            <a:endParaRPr lang="pt-BR">
              <a:latin typeface="Calibri" panose="020F0502020204030204"/>
              <a:cs typeface="+mn-cs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2071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chemeClr val="bg1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207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D6E81CD-F55D-4D3D-A6C0-8E7FCCA06233}" type="slidenum">
              <a:rPr lang="pt-B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pt-BR"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762515"/>
      </p:ext>
    </p:extLst>
  </p:cSld>
  <p:clrMapOvr>
    <a:masterClrMapping/>
  </p:clrMapOvr>
  <p:transition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à_esquerda_e_figura_à_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197600" y="990600"/>
            <a:ext cx="5486400" cy="4953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Retângulo 4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4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_e_texto_3/4_figura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7721600" y="914400"/>
            <a:ext cx="3962400" cy="4953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14401"/>
            <a:ext cx="7112000" cy="49530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a_à_esquerda_e_texto_à_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406400" y="990600"/>
            <a:ext cx="5486400" cy="4953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Retângulo 4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9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_acima_figura_em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9906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406400" y="3352800"/>
            <a:ext cx="11277600" cy="2667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acima_tabela_em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9906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406400" y="3276600"/>
            <a:ext cx="11277600" cy="2667000"/>
          </a:xfrm>
        </p:spPr>
        <p:txBody>
          <a:bodyPr anchor="ctr">
            <a:normAutofit/>
          </a:bodyPr>
          <a:lstStyle>
            <a:lvl1pPr>
              <a:buNone/>
              <a:defRPr baseline="0"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tabela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71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baixo_figura_ac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37338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406400" y="990600"/>
            <a:ext cx="11277600" cy="2667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1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baixo_tabela_ac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37338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406400" y="990600"/>
            <a:ext cx="11277600" cy="2667000"/>
          </a:xfrm>
        </p:spPr>
        <p:txBody>
          <a:bodyPr anchor="ctr">
            <a:normAutofit/>
          </a:bodyPr>
          <a:lstStyle>
            <a:lvl1pPr>
              <a:buNone/>
              <a:defRPr baseline="0"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tabela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54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_faixa_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5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em_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53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Branco_Texto_Azul_Faixa_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-2"/>
            <a:ext cx="12192000" cy="106680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10"/>
          </p:nvPr>
        </p:nvSpPr>
        <p:spPr>
          <a:xfrm>
            <a:off x="431469" y="1340768"/>
            <a:ext cx="11329160" cy="5112568"/>
          </a:xfrm>
        </p:spPr>
        <p:txBody>
          <a:bodyPr/>
          <a:lstStyle>
            <a:lvl1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52400"/>
            <a:ext cx="11277600" cy="76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7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380DEFD0-34AC-496A-B659-4CE344A0CD84}" type="datetimeFigureOut">
              <a:rPr lang="pt-BR" smtClean="0"/>
              <a:pPr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AD6E81CD-F55D-4D3D-A6C0-8E7FCCA0623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166780-5B7E-A343-A952-884AB233A198}"/>
              </a:ext>
            </a:extLst>
          </p:cNvPr>
          <p:cNvSpPr/>
          <p:nvPr userDrawn="1"/>
        </p:nvSpPr>
        <p:spPr>
          <a:xfrm>
            <a:off x="7" y="365126"/>
            <a:ext cx="402772" cy="1244600"/>
          </a:xfrm>
          <a:prstGeom prst="rect">
            <a:avLst/>
          </a:prstGeom>
          <a:solidFill>
            <a:srgbClr val="B01D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779470050"/>
      </p:ext>
    </p:extLst>
  </p:cSld>
  <p:clrMapOvr>
    <a:masterClrMapping/>
  </p:clrMapOvr>
  <p:transition>
    <p:comb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22694620"/>
      </p:ext>
    </p:extLst>
  </p:cSld>
  <p:clrMapOvr>
    <a:masterClrMapping/>
  </p:clrMapOvr>
  <p:transition>
    <p:comb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4557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0DEFD0-34AC-496A-B659-4CE344A0CD84}" type="datetimeFigureOut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29/09/2026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6E81CD-F55D-4D3D-A6C0-8E7FCCA0623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3F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989B1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ítulo 1"/>
          <p:cNvSpPr txBox="1">
            <a:spLocks/>
          </p:cNvSpPr>
          <p:nvPr userDrawn="1"/>
        </p:nvSpPr>
        <p:spPr>
          <a:xfrm>
            <a:off x="532328" y="529931"/>
            <a:ext cx="6766396" cy="1663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5400" b="1" kern="1200" dirty="0">
                <a:solidFill>
                  <a:srgbClr val="084734"/>
                </a:solidFill>
                <a:latin typeface="Calibri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1" i="0" u="none" strike="noStrike" kern="1200" cap="none" spc="0" normalizeH="0" baseline="0" noProof="0" dirty="0">
                <a:ln>
                  <a:noFill/>
                </a:ln>
                <a:solidFill>
                  <a:srgbClr val="084734"/>
                </a:solidFill>
                <a:effectLst/>
                <a:uLnTx/>
                <a:uFillTx/>
                <a:latin typeface="Calibri" pitchFamily="2" charset="0"/>
                <a:ea typeface="+mn-ea"/>
                <a:cs typeface="+mn-cs"/>
              </a:rPr>
              <a:t>Clique para editar o título mestre</a:t>
            </a:r>
          </a:p>
        </p:txBody>
      </p:sp>
      <p:sp>
        <p:nvSpPr>
          <p:cNvPr id="9" name="Subtítulo 2"/>
          <p:cNvSpPr txBox="1">
            <a:spLocks/>
          </p:cNvSpPr>
          <p:nvPr userDrawn="1"/>
        </p:nvSpPr>
        <p:spPr>
          <a:xfrm>
            <a:off x="532328" y="2310352"/>
            <a:ext cx="9144000" cy="412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 kern="1200" dirty="0">
                <a:solidFill>
                  <a:srgbClr val="084734"/>
                </a:solidFill>
                <a:latin typeface="Calibri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84734"/>
                </a:solidFill>
                <a:effectLst/>
                <a:uLnTx/>
                <a:uFillTx/>
                <a:latin typeface="Calibri" pitchFamily="2" charset="0"/>
                <a:ea typeface="+mn-ea"/>
                <a:cs typeface="+mn-cs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5791855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912EF-2DA7-629D-5A66-6AE0EC29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0220EC-C7C8-7BDE-2049-120523F7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EFD0-34AC-496A-B659-4CE344A0CD84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C3B5FF-8FFB-1FC2-B8FE-9D1F7519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9FF686-EF24-82B2-826F-BF880B90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81CD-F55D-4D3D-A6C0-8E7FCCA06233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560EE4-82CB-3B73-2F1B-412D0F9D5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A97CCF17-23F2-695F-D020-42CAEF2CA5AF}"/>
              </a:ext>
            </a:extLst>
          </p:cNvPr>
          <p:cNvSpPr txBox="1">
            <a:spLocks/>
          </p:cNvSpPr>
          <p:nvPr userDrawn="1"/>
        </p:nvSpPr>
        <p:spPr>
          <a:xfrm>
            <a:off x="8195635" y="2075542"/>
            <a:ext cx="3498112" cy="1912849"/>
          </a:xfrm>
          <a:prstGeom prst="rect">
            <a:avLst/>
          </a:prstGeom>
        </p:spPr>
        <p:txBody>
          <a:bodyPr vert="horz" wrap="square" lIns="73152" tIns="45720" rIns="73152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pt-BR" sz="2500" b="1" dirty="0">
                <a:solidFill>
                  <a:srgbClr val="FFFFFF"/>
                </a:solidFill>
                <a:latin typeface="Aptos"/>
              </a:rPr>
              <a:t>Modelagem Financeira com Técnicas Avançadas de Dados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2CF2711-D719-9CFC-049F-CE37E8F6A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635" y="4269639"/>
            <a:ext cx="3498112" cy="2253333"/>
          </a:xfrm>
        </p:spPr>
        <p:txBody>
          <a:bodyPr wrap="square" lIns="73152" rIns="73152">
            <a:norm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Pós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Engenharia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Financeira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–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Turma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10</a:t>
            </a:r>
            <a:br>
              <a:rPr dirty="0"/>
            </a:br>
            <a:r>
              <a:rPr sz="1700" b="0" dirty="0">
                <a:solidFill>
                  <a:srgbClr val="FFFFFF"/>
                </a:solidFill>
                <a:latin typeface="Aptos"/>
              </a:rPr>
              <a:t>Prof. Gustavo Corrêa Mirapalheta</a:t>
            </a:r>
          </a:p>
        </p:txBody>
      </p:sp>
    </p:spTree>
    <p:extLst>
      <p:ext uri="{BB962C8B-B14F-4D97-AF65-F5344CB8AC3E}">
        <p14:creationId xmlns:p14="http://schemas.microsoft.com/office/powerpoint/2010/main" val="3402894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CCF4D-8E58-05F0-AC4A-958AF3ABF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343C59-7106-CAED-67BE-BE592A71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EFD0-34AC-496A-B659-4CE344A0CD84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E8F53C-F6B3-1D1A-AB07-5E6D20CE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827A5D-806D-7FE7-4093-45945A49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81CD-F55D-4D3D-A6C0-8E7FCCA06233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309EFE8-1C6F-23C5-9F22-9EEDEFCC0A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FBC584D7-76E2-8AB6-2B97-CF1AF62DBAE7}"/>
              </a:ext>
            </a:extLst>
          </p:cNvPr>
          <p:cNvSpPr txBox="1">
            <a:spLocks/>
          </p:cNvSpPr>
          <p:nvPr userDrawn="1"/>
        </p:nvSpPr>
        <p:spPr>
          <a:xfrm>
            <a:off x="8195635" y="2075542"/>
            <a:ext cx="3498112" cy="1912849"/>
          </a:xfrm>
          <a:prstGeom prst="rect">
            <a:avLst/>
          </a:prstGeom>
        </p:spPr>
        <p:txBody>
          <a:bodyPr vert="horz" wrap="square" lIns="73152" tIns="45720" rIns="73152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pt-BR" sz="2500" b="1" dirty="0">
                <a:solidFill>
                  <a:srgbClr val="FFFFFF"/>
                </a:solidFill>
                <a:latin typeface="Aptos"/>
              </a:rPr>
              <a:t>Modelagem Financeira com Técnicas Avançadas de Dados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E5F4FE50-77FA-AC26-F08C-0C30F0C46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635" y="4269639"/>
            <a:ext cx="3498112" cy="2253333"/>
          </a:xfrm>
        </p:spPr>
        <p:txBody>
          <a:bodyPr wrap="square" lIns="73152" rIns="73152">
            <a:norm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Pós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Engenharia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Financeira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–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Turma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10</a:t>
            </a:r>
            <a:br>
              <a:rPr dirty="0"/>
            </a:br>
            <a:r>
              <a:rPr sz="1700" b="0" dirty="0">
                <a:solidFill>
                  <a:srgbClr val="FFFFFF"/>
                </a:solidFill>
                <a:latin typeface="Aptos"/>
              </a:rPr>
              <a:t>Prof. Gustavo Corrêa Mirapalheta</a:t>
            </a:r>
          </a:p>
        </p:txBody>
      </p:sp>
    </p:spTree>
    <p:extLst>
      <p:ext uri="{BB962C8B-B14F-4D97-AF65-F5344CB8AC3E}">
        <p14:creationId xmlns:p14="http://schemas.microsoft.com/office/powerpoint/2010/main" val="346771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76200"/>
            <a:ext cx="11277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914400"/>
            <a:ext cx="11277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pic>
        <p:nvPicPr>
          <p:cNvPr id="10" name="Picture 9" descr="EMC logo white-lg.png"/>
          <p:cNvPicPr>
            <a:picLocks noChangeAspect="1"/>
          </p:cNvPicPr>
          <p:nvPr/>
        </p:nvPicPr>
        <p:blipFill>
          <a:blip r:embed="rId22" cstate="print"/>
          <a:srcRect l="10651" r="6284" b="30550"/>
          <a:stretch>
            <a:fillRect/>
          </a:stretch>
        </p:blipFill>
        <p:spPr>
          <a:xfrm>
            <a:off x="10464800" y="6210870"/>
            <a:ext cx="1238251" cy="29244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408" r:id="rId1"/>
    <p:sldLayoutId id="2147494364" r:id="rId2"/>
    <p:sldLayoutId id="2147494393" r:id="rId3"/>
    <p:sldLayoutId id="2147494370" r:id="rId4"/>
    <p:sldLayoutId id="2147494369" r:id="rId5"/>
    <p:sldLayoutId id="2147494410" r:id="rId6"/>
    <p:sldLayoutId id="2147494439" r:id="rId7"/>
    <p:sldLayoutId id="2147494367" r:id="rId8"/>
    <p:sldLayoutId id="2147494391" r:id="rId9"/>
    <p:sldLayoutId id="2147494368" r:id="rId10"/>
    <p:sldLayoutId id="2147494373" r:id="rId11"/>
    <p:sldLayoutId id="2147494376" r:id="rId12"/>
    <p:sldLayoutId id="2147494375" r:id="rId13"/>
    <p:sldLayoutId id="2147494377" r:id="rId14"/>
    <p:sldLayoutId id="2147494371" r:id="rId15"/>
    <p:sldLayoutId id="2147494378" r:id="rId16"/>
    <p:sldLayoutId id="2147494403" r:id="rId17"/>
    <p:sldLayoutId id="2147494440" r:id="rId18"/>
    <p:sldLayoutId id="2147494411" r:id="rId19"/>
    <p:sldLayoutId id="2147494441" r:id="rId20"/>
  </p:sldLayoutIdLst>
  <p:transition>
    <p:comb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9pPr>
    </p:titleStyle>
    <p:bodyStyle>
      <a:lvl1pPr marL="231775" indent="-231775" algn="l" rtl="0" eaLnBrk="1" fontAlgn="base" hangingPunct="1">
        <a:spcBef>
          <a:spcPct val="20000"/>
        </a:spcBef>
        <a:spcAft>
          <a:spcPct val="0"/>
        </a:spcAft>
        <a:buClr>
          <a:srgbClr val="92D050"/>
        </a:buClr>
        <a:buSzPct val="120000"/>
        <a:buFont typeface="Arial" charset="0"/>
        <a:buChar char="•"/>
        <a:defRPr sz="2400" kern="1200" baseline="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1pPr>
      <a:lvl2pPr marL="682625" indent="-341313" algn="l" rtl="0" eaLnBrk="1" fontAlgn="base" hangingPunct="1">
        <a:spcBef>
          <a:spcPct val="20000"/>
        </a:spcBef>
        <a:spcAft>
          <a:spcPct val="0"/>
        </a:spcAft>
        <a:buClr>
          <a:srgbClr val="FFC425"/>
        </a:buClr>
        <a:buSzPct val="90000"/>
        <a:buFont typeface="Webdings" pitchFamily="18" charset="2"/>
        <a:buChar char="4"/>
        <a:defRPr sz="2200"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2pPr>
      <a:lvl3pPr marL="1143000" indent="-338138" algn="l" rtl="0" eaLnBrk="1" fontAlgn="base" hangingPunct="1">
        <a:spcBef>
          <a:spcPct val="20000"/>
        </a:spcBef>
        <a:spcAft>
          <a:spcPct val="0"/>
        </a:spcAft>
        <a:buClr>
          <a:srgbClr val="B5761B"/>
        </a:buClr>
        <a:buSzPct val="90000"/>
        <a:buFont typeface="Webdings" pitchFamily="18" charset="2"/>
        <a:buChar char="8"/>
        <a:defRPr sz="2000"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3pPr>
      <a:lvl4pPr marL="1487488" indent="-2317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4pPr>
      <a:lvl5pPr marL="1828800" indent="-231775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SzPct val="110000"/>
        <a:buFont typeface="Arial" charset="0"/>
        <a:buChar char="•"/>
        <a:defRPr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DEFD0-34AC-496A-B659-4CE344A0CD84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E81CD-F55D-4D3D-A6C0-8E7FCCA062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519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434" r:id="rId1"/>
    <p:sldLayoutId id="2147494436" r:id="rId2"/>
    <p:sldLayoutId id="214749443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gustavo.mirapalheta@gmail.com" TargetMode="Externa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6DEEE-40A9-20FF-CBFA-B7801213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FEC94BB-8C3B-3A8B-024C-7D416F6ED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66DDAFA7-E6E9-4374-1B1E-0B4979FC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5635" y="2075542"/>
            <a:ext cx="3498112" cy="1912849"/>
          </a:xfrm>
        </p:spPr>
        <p:txBody>
          <a:bodyPr wrap="square" lIns="73152" rIns="73152">
            <a:noAutofit/>
          </a:bodyPr>
          <a:lstStyle/>
          <a:p>
            <a:pPr algn="l"/>
            <a:r>
              <a:rPr lang="pt-BR" sz="2500" b="1" dirty="0">
                <a:solidFill>
                  <a:srgbClr val="FFFFFF"/>
                </a:solidFill>
                <a:latin typeface="Aptos"/>
              </a:rPr>
              <a:t>IA Aplicada à Gestão de Investimentos</a:t>
            </a:r>
            <a:endParaRPr sz="2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C0D0569-22A3-42C3-BB16-54F0A26CD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635" y="4269639"/>
            <a:ext cx="3498112" cy="2253333"/>
          </a:xfrm>
        </p:spPr>
        <p:txBody>
          <a:bodyPr wrap="square" lIns="73152" rIns="73152">
            <a:norm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Pós Engenharia Financeira – Turma 10</a:t>
            </a:r>
            <a:br/>
            <a:r>
              <a:rPr sz="1700" b="0">
                <a:solidFill>
                  <a:srgbClr val="FFFFFF"/>
                </a:solidFill>
                <a:latin typeface="Aptos"/>
              </a:rPr>
              <a:t>Prof. Gustavo Corrêa Mirapalheta</a:t>
            </a:r>
          </a:p>
        </p:txBody>
      </p:sp>
    </p:spTree>
    <p:extLst>
      <p:ext uri="{BB962C8B-B14F-4D97-AF65-F5344CB8AC3E}">
        <p14:creationId xmlns:p14="http://schemas.microsoft.com/office/powerpoint/2010/main" val="322105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C66B2-1A38-49AE-9150-59531BB7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Professor, Agenda,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485B1B-A633-48F8-8F22-C0257CC01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Professor:</a:t>
            </a:r>
          </a:p>
          <a:p>
            <a:pPr lvl="1"/>
            <a:r>
              <a:rPr lang="pt-BR" dirty="0"/>
              <a:t>Gustavo Corrêa Mirapalheta, </a:t>
            </a:r>
            <a:r>
              <a:rPr lang="pt-BR" dirty="0">
                <a:hlinkClick r:id="rId2"/>
              </a:rPr>
              <a:t>gustavo.mirapalheta@gmail.com</a:t>
            </a:r>
            <a:r>
              <a:rPr lang="pt-BR" dirty="0"/>
              <a:t>, +55 11 9 9204 1201</a:t>
            </a:r>
          </a:p>
          <a:p>
            <a:pPr lvl="1"/>
            <a:r>
              <a:rPr lang="pt-BR" dirty="0"/>
              <a:t>Engenheiro Eletricista (UFRGS), Doutor em Administração de Empresas (FGV), Professor de Tecnologia e Ciência de Dados, Consultor em Aplicações de Inteligência Artificial. Foi diretor e gerente de vendas de software (Sun Microsystems, IBM).</a:t>
            </a:r>
          </a:p>
          <a:p>
            <a:r>
              <a:rPr lang="pt-BR" dirty="0"/>
              <a:t>Ementa:</a:t>
            </a:r>
          </a:p>
          <a:p>
            <a:pPr lvl="1" algn="just"/>
            <a:r>
              <a:rPr lang="pt-BR" dirty="0"/>
              <a:t>Aplicações de IA, Machine Learning e Big Data nos algoritmos para análise, previsão e recomendação de investimentos. Estratégias de aplicação. Análise de desempenho. Discussão de casos. Limites e tendências.</a:t>
            </a:r>
          </a:p>
          <a:p>
            <a:r>
              <a:rPr lang="pt-BR" dirty="0"/>
              <a:t>Bibliografia:</a:t>
            </a:r>
          </a:p>
          <a:p>
            <a:pPr lvl="1"/>
            <a:r>
              <a:rPr lang="pt-BR" dirty="0"/>
              <a:t>HILPISCH, Yves </a:t>
            </a:r>
            <a:r>
              <a:rPr lang="pt-BR" i="1" dirty="0"/>
              <a:t>Artificial </a:t>
            </a:r>
            <a:r>
              <a:rPr lang="pt-BR" i="1" dirty="0" err="1"/>
              <a:t>Intelligence</a:t>
            </a:r>
            <a:r>
              <a:rPr lang="pt-BR" i="1" dirty="0"/>
              <a:t> in </a:t>
            </a:r>
            <a:r>
              <a:rPr lang="pt-BR" i="1" dirty="0" err="1"/>
              <a:t>Finance</a:t>
            </a:r>
            <a:r>
              <a:rPr lang="pt-BR" i="1" dirty="0"/>
              <a:t>. </a:t>
            </a:r>
            <a:r>
              <a:rPr lang="pt-BR" dirty="0"/>
              <a:t>O’Reilly, 2021 </a:t>
            </a:r>
          </a:p>
          <a:p>
            <a:pPr lvl="1"/>
            <a:r>
              <a:rPr lang="pt-BR" dirty="0"/>
              <a:t>BENNINGA, Simon </a:t>
            </a:r>
            <a:r>
              <a:rPr lang="pt-BR" i="1" dirty="0"/>
              <a:t>Financial </a:t>
            </a:r>
            <a:r>
              <a:rPr lang="pt-BR" i="1" dirty="0" err="1"/>
              <a:t>Modeling</a:t>
            </a:r>
            <a:r>
              <a:rPr lang="pt-BR" i="1" dirty="0"/>
              <a:t>. </a:t>
            </a:r>
            <a:r>
              <a:rPr lang="pt-BR" dirty="0"/>
              <a:t>MIT Press, 2021, 5th </a:t>
            </a:r>
            <a:r>
              <a:rPr lang="pt-BR" dirty="0" err="1"/>
              <a:t>edition</a:t>
            </a:r>
            <a:r>
              <a:rPr lang="pt-BR" dirty="0"/>
              <a:t>.</a:t>
            </a:r>
          </a:p>
          <a:p>
            <a:r>
              <a:rPr lang="pt-BR" dirty="0"/>
              <a:t>Agenda:</a:t>
            </a:r>
          </a:p>
          <a:p>
            <a:pPr lvl="1"/>
            <a:r>
              <a:rPr lang="pt-BR" dirty="0"/>
              <a:t>1º Dia: Cenário Tecnológico Atual. Modelos de previsão e validação. Limitações e tendências em modelos.</a:t>
            </a:r>
          </a:p>
          <a:p>
            <a:pPr lvl="1"/>
            <a:r>
              <a:rPr lang="pt-BR" dirty="0"/>
              <a:t>2º Dia: Decisão, recomendação e governança em investimentos. Introdução aos Large </a:t>
            </a:r>
            <a:r>
              <a:rPr lang="pt-BR" dirty="0" err="1"/>
              <a:t>Language</a:t>
            </a:r>
            <a:r>
              <a:rPr lang="pt-BR" dirty="0"/>
              <a:t> Models. Aplicações empresariais (RAG) </a:t>
            </a:r>
          </a:p>
          <a:p>
            <a:r>
              <a:rPr lang="pt-BR" dirty="0"/>
              <a:t>Avaliação:</a:t>
            </a:r>
          </a:p>
          <a:p>
            <a:pPr lvl="1"/>
            <a:r>
              <a:rPr lang="pt-BR" dirty="0"/>
              <a:t>Atividade integradora: Comitê de investimentos. </a:t>
            </a:r>
          </a:p>
        </p:txBody>
      </p:sp>
    </p:spTree>
    <p:extLst>
      <p:ext uri="{BB962C8B-B14F-4D97-AF65-F5344CB8AC3E}">
        <p14:creationId xmlns:p14="http://schemas.microsoft.com/office/powerpoint/2010/main" val="3269309971"/>
      </p:ext>
    </p:extLst>
  </p:cSld>
  <p:clrMapOvr>
    <a:masterClrMapping/>
  </p:clrMapOvr>
  <p:transition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ctrTitle" hasCustomPrompt="1"/>
          </p:nvPr>
        </p:nvSpPr>
        <p:spPr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pt-BR" sz="3600" b="1" u="none" strike="noStrike" dirty="0">
                <a:solidFill>
                  <a:srgbClr val="003366"/>
                </a:solidFill>
                <a:effectLst/>
                <a:uFillTx/>
                <a:latin typeface="Calibri"/>
              </a:rPr>
              <a:t>Cenário Tecnológico</a:t>
            </a:r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78AE3A5B-7C56-6630-F325-9F6D0348E0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616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04F75145-94AC-3ED6-1F28-391CC9935C4E}"/>
              </a:ext>
            </a:extLst>
          </p:cNvPr>
          <p:cNvSpPr txBox="1"/>
          <p:nvPr/>
        </p:nvSpPr>
        <p:spPr>
          <a:xfrm>
            <a:off x="7922458" y="2177137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Variedade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EBB185-E463-20BA-B674-FC1967DD4753}"/>
              </a:ext>
            </a:extLst>
          </p:cNvPr>
          <p:cNvSpPr txBox="1"/>
          <p:nvPr/>
        </p:nvSpPr>
        <p:spPr>
          <a:xfrm>
            <a:off x="3595334" y="2156673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pt-BR" b="1" dirty="0"/>
              <a:t>Velocidade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6F7D451-E2B6-3163-AA57-BCE6EC28E2AE}"/>
              </a:ext>
            </a:extLst>
          </p:cNvPr>
          <p:cNvCxnSpPr/>
          <p:nvPr/>
        </p:nvCxnSpPr>
        <p:spPr>
          <a:xfrm flipH="1" flipV="1">
            <a:off x="4605379" y="2789014"/>
            <a:ext cx="1791493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114ED8D-DDBE-6C2E-E56B-57BEE0085A39}"/>
              </a:ext>
            </a:extLst>
          </p:cNvPr>
          <p:cNvCxnSpPr/>
          <p:nvPr/>
        </p:nvCxnSpPr>
        <p:spPr>
          <a:xfrm>
            <a:off x="5482472" y="2313449"/>
            <a:ext cx="2210592" cy="13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9DA19A-27CD-449A-4601-797BCAE8DFFA}"/>
              </a:ext>
            </a:extLst>
          </p:cNvPr>
          <p:cNvCxnSpPr/>
          <p:nvPr/>
        </p:nvCxnSpPr>
        <p:spPr>
          <a:xfrm flipH="1">
            <a:off x="6701672" y="2865214"/>
            <a:ext cx="1789907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D95B83-4A4A-38F9-B347-55E21513849A}"/>
              </a:ext>
            </a:extLst>
          </p:cNvPr>
          <p:cNvSpPr txBox="1"/>
          <p:nvPr/>
        </p:nvSpPr>
        <p:spPr>
          <a:xfrm>
            <a:off x="5635664" y="4389214"/>
            <a:ext cx="18280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Volume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CD06A3B-E149-70C6-40C6-20C3DEF5B54F}"/>
              </a:ext>
            </a:extLst>
          </p:cNvPr>
          <p:cNvGrpSpPr/>
          <p:nvPr/>
        </p:nvGrpSpPr>
        <p:grpSpPr>
          <a:xfrm>
            <a:off x="2778464" y="3378409"/>
            <a:ext cx="2672671" cy="1846179"/>
            <a:chOff x="152400" y="3581400"/>
            <a:chExt cx="3466416" cy="2472154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598B2BBA-EBE8-53D9-AE5E-0831B7DF404C}"/>
                </a:ext>
              </a:extLst>
            </p:cNvPr>
            <p:cNvGrpSpPr/>
            <p:nvPr/>
          </p:nvGrpSpPr>
          <p:grpSpPr>
            <a:xfrm>
              <a:off x="152400" y="3581400"/>
              <a:ext cx="3466416" cy="2413118"/>
              <a:chOff x="152400" y="3581400"/>
              <a:chExt cx="3466416" cy="2413118"/>
            </a:xfrm>
          </p:grpSpPr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A74B815-706B-7FFE-F95F-F83B2C2846C1}"/>
                  </a:ext>
                </a:extLst>
              </p:cNvPr>
              <p:cNvGrpSpPr/>
              <p:nvPr/>
            </p:nvGrpSpPr>
            <p:grpSpPr>
              <a:xfrm>
                <a:off x="152400" y="3581400"/>
                <a:ext cx="3466416" cy="2413118"/>
                <a:chOff x="152400" y="3581400"/>
                <a:chExt cx="3466416" cy="2413118"/>
              </a:xfrm>
            </p:grpSpPr>
            <p:graphicFrame>
              <p:nvGraphicFramePr>
                <p:cNvPr id="20" name="Chart 81">
                  <a:extLst>
                    <a:ext uri="{FF2B5EF4-FFF2-40B4-BE49-F238E27FC236}">
                      <a16:creationId xmlns:a16="http://schemas.microsoft.com/office/drawing/2014/main" id="{BEAAC23E-FCE1-AC7B-B2D8-15F92C7029AB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52400" y="3581400"/>
                <a:ext cx="3466416" cy="2413118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FB37374F-E669-096D-5A16-57A744DE683D}"/>
                    </a:ext>
                  </a:extLst>
                </p:cNvPr>
                <p:cNvSpPr/>
                <p:nvPr/>
              </p:nvSpPr>
              <p:spPr>
                <a:xfrm>
                  <a:off x="2046507" y="4343400"/>
                  <a:ext cx="83721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600" b="1" dirty="0">
                      <a:solidFill>
                        <a:srgbClr val="003366"/>
                      </a:solidFill>
                      <a:latin typeface="Calibri"/>
                      <a:ea typeface="ＭＳ Ｐゴシック" pitchFamily="34" charset="-128"/>
                      <a:cs typeface="Arial" panose="020B0604020202020204" pitchFamily="34" charset="0"/>
                    </a:rPr>
                    <a:t>Volume</a:t>
                  </a:r>
                  <a:endParaRPr lang="en-US" sz="1600" b="1" dirty="0">
                    <a:solidFill>
                      <a:srgbClr val="003366"/>
                    </a:solidFill>
                    <a:latin typeface="Calibri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59C89CC9-6BDE-5852-7209-EE047A33537A}"/>
                  </a:ext>
                </a:extLst>
              </p:cNvPr>
              <p:cNvSpPr/>
              <p:nvPr/>
            </p:nvSpPr>
            <p:spPr>
              <a:xfrm>
                <a:off x="606796" y="3775400"/>
                <a:ext cx="89248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solidFill>
                      <a:srgbClr val="003366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Big Data</a:t>
                </a:r>
                <a:endParaRPr lang="pt-BR" sz="1600" dirty="0"/>
              </a:p>
            </p:txBody>
          </p:sp>
        </p:grp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0520E8A-C169-360A-9AD4-EEA20A338883}"/>
                </a:ext>
              </a:extLst>
            </p:cNvPr>
            <p:cNvSpPr/>
            <p:nvPr/>
          </p:nvSpPr>
          <p:spPr>
            <a:xfrm>
              <a:off x="2149060" y="5715000"/>
              <a:ext cx="1119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Velocidade</a:t>
              </a:r>
              <a:endParaRPr lang="en-US" sz="1600" b="1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0FB2C7E-267E-0327-455C-CB0F273731B3}"/>
              </a:ext>
            </a:extLst>
          </p:cNvPr>
          <p:cNvGrpSpPr/>
          <p:nvPr/>
        </p:nvGrpSpPr>
        <p:grpSpPr>
          <a:xfrm>
            <a:off x="4910588" y="156646"/>
            <a:ext cx="1984376" cy="1803173"/>
            <a:chOff x="6801481" y="369568"/>
            <a:chExt cx="1984376" cy="1803173"/>
          </a:xfrm>
        </p:grpSpPr>
        <p:pic>
          <p:nvPicPr>
            <p:cNvPr id="23" name="Picture 2" descr="Resultado de imagem para The Economist Technology Quarterly â the rise and plateau of transistor power.">
              <a:extLst>
                <a:ext uri="{FF2B5EF4-FFF2-40B4-BE49-F238E27FC236}">
                  <a16:creationId xmlns:a16="http://schemas.microsoft.com/office/drawing/2014/main" id="{CA86D011-A19C-1061-0A9D-1C2473766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1481" y="762000"/>
              <a:ext cx="1984376" cy="1410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992AD552-6269-8B56-0428-6FFEB6293B05}"/>
                </a:ext>
              </a:extLst>
            </p:cNvPr>
            <p:cNvSpPr/>
            <p:nvPr/>
          </p:nvSpPr>
          <p:spPr>
            <a:xfrm>
              <a:off x="7136101" y="369568"/>
              <a:ext cx="130446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Lei de Moore</a:t>
              </a:r>
              <a:endParaRPr lang="en-US" sz="1600" b="1" baseline="30000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406" y="260186"/>
            <a:ext cx="3407231" cy="798824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406" y="1126861"/>
            <a:ext cx="3415397" cy="792763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3AE02F7-9881-9AA9-9C75-16B2C8E7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Tecnológica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F0CFE2-F13C-221A-7899-7768D7E05389}"/>
              </a:ext>
            </a:extLst>
          </p:cNvPr>
          <p:cNvSpPr txBox="1"/>
          <p:nvPr/>
        </p:nvSpPr>
        <p:spPr>
          <a:xfrm>
            <a:off x="8293107" y="3916142"/>
            <a:ext cx="17914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Inteligência Artificial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8E802B0-237A-550F-9C32-72232FCD6E54}"/>
              </a:ext>
            </a:extLst>
          </p:cNvPr>
          <p:cNvGrpSpPr/>
          <p:nvPr/>
        </p:nvGrpSpPr>
        <p:grpSpPr>
          <a:xfrm>
            <a:off x="8440114" y="4593214"/>
            <a:ext cx="1523774" cy="1263819"/>
            <a:chOff x="8440114" y="4593214"/>
            <a:chExt cx="1523774" cy="126381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83DC7A4-6098-A853-5532-347A80B38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114" y="4593214"/>
              <a:ext cx="1523774" cy="905931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85BFD07E-516C-3122-9C5D-2D6C2F283CC4}"/>
                </a:ext>
              </a:extLst>
            </p:cNvPr>
            <p:cNvSpPr txBox="1"/>
            <p:nvPr/>
          </p:nvSpPr>
          <p:spPr>
            <a:xfrm>
              <a:off x="8678541" y="5549256"/>
              <a:ext cx="104691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err="1"/>
                <a:t>LLMs</a:t>
              </a:r>
              <a:endParaRPr lang="pt-BR" sz="1400" b="1" dirty="0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F3692C8-B072-2F49-7D04-B107C5E4CA3F}"/>
              </a:ext>
            </a:extLst>
          </p:cNvPr>
          <p:cNvGrpSpPr/>
          <p:nvPr/>
        </p:nvGrpSpPr>
        <p:grpSpPr>
          <a:xfrm>
            <a:off x="10131457" y="3928069"/>
            <a:ext cx="1631547" cy="1445509"/>
            <a:chOff x="10131457" y="3928069"/>
            <a:chExt cx="1631547" cy="1445509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91A7440-6C5C-F6CD-3866-A1F66B905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5653" y="3928069"/>
              <a:ext cx="1383157" cy="922289"/>
            </a:xfrm>
            <a:prstGeom prst="rect">
              <a:avLst/>
            </a:prstGeom>
          </p:spPr>
        </p:pic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CE02217-F17A-182C-DC92-9022FA7CF942}"/>
                </a:ext>
              </a:extLst>
            </p:cNvPr>
            <p:cNvSpPr txBox="1"/>
            <p:nvPr/>
          </p:nvSpPr>
          <p:spPr>
            <a:xfrm>
              <a:off x="10131457" y="4850358"/>
              <a:ext cx="163154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Reconhecimento de Imagens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C2B466D-4C82-90CD-5A80-764A149C23F7}"/>
              </a:ext>
            </a:extLst>
          </p:cNvPr>
          <p:cNvGrpSpPr/>
          <p:nvPr/>
        </p:nvGrpSpPr>
        <p:grpSpPr>
          <a:xfrm>
            <a:off x="10137055" y="5471132"/>
            <a:ext cx="1620354" cy="1117954"/>
            <a:chOff x="10137055" y="5471132"/>
            <a:chExt cx="1620354" cy="1117954"/>
          </a:xfrm>
        </p:grpSpPr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87A8816E-5C09-BA6F-76E2-330DD8E08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055" y="5471132"/>
              <a:ext cx="1620354" cy="810177"/>
            </a:xfrm>
            <a:prstGeom prst="rect">
              <a:avLst/>
            </a:prstGeom>
          </p:spPr>
        </p:pic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D308D61-45F2-0648-3F7C-6E043BE928B9}"/>
                </a:ext>
              </a:extLst>
            </p:cNvPr>
            <p:cNvSpPr txBox="1"/>
            <p:nvPr/>
          </p:nvSpPr>
          <p:spPr>
            <a:xfrm>
              <a:off x="10441769" y="6281309"/>
              <a:ext cx="101092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Robótica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642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52600"/>
            <a:ext cx="3733800" cy="238125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dirty="0"/>
              <a:t>A Escolha do Modelo: Não Supervisionado ou Supervisionado?	</a:t>
            </a:r>
            <a:br>
              <a:rPr lang="pt-BR" dirty="0"/>
            </a:br>
            <a:r>
              <a:rPr lang="pt-BR" dirty="0"/>
              <a:t>Predição de Valor ou de Categoria?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F38C243-402C-42C5-9A6B-24DF49D5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927" y="1219200"/>
            <a:ext cx="6224273" cy="463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 Explicativo: Linha Dobrada com Ênfase 11">
            <a:extLst>
              <a:ext uri="{FF2B5EF4-FFF2-40B4-BE49-F238E27FC236}">
                <a16:creationId xmlns:a16="http://schemas.microsoft.com/office/drawing/2014/main" id="{4FCBA2EB-B12C-4F82-ADB5-324868DFA6B5}"/>
              </a:ext>
            </a:extLst>
          </p:cNvPr>
          <p:cNvSpPr/>
          <p:nvPr/>
        </p:nvSpPr>
        <p:spPr bwMode="auto">
          <a:xfrm flipH="1">
            <a:off x="328927" y="4953000"/>
            <a:ext cx="1371600" cy="6096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8142"/>
              <a:gd name="adj6" fmla="val -59279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solidFill>
                  <a:srgbClr val="003366"/>
                </a:solidFill>
                <a:effectLst/>
                <a:latin typeface="Corbel" panose="020B0503020204020204" pitchFamily="34" charset="0"/>
              </a:rPr>
              <a:t>Os valores de saída são</a:t>
            </a:r>
            <a:r>
              <a:rPr kumimoji="0" lang="pt-BR" i="0" u="none" strike="noStrike" cap="none" normalizeH="0" dirty="0">
                <a:ln>
                  <a:noFill/>
                </a:ln>
                <a:solidFill>
                  <a:srgbClr val="003366"/>
                </a:solidFill>
                <a:effectLst/>
                <a:latin typeface="Corbel" panose="020B0503020204020204" pitchFamily="34" charset="0"/>
              </a:rPr>
              <a:t> categóricos</a:t>
            </a:r>
            <a:endParaRPr kumimoji="0" lang="pt-BR" i="0" u="none" strike="noStrike" cap="none" normalizeH="0" baseline="0" dirty="0">
              <a:ln>
                <a:noFill/>
              </a:ln>
              <a:solidFill>
                <a:srgbClr val="003366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10" name="Texto Explicativo: Linha Dobrada com Ênfase 11">
            <a:extLst>
              <a:ext uri="{FF2B5EF4-FFF2-40B4-BE49-F238E27FC236}">
                <a16:creationId xmlns:a16="http://schemas.microsoft.com/office/drawing/2014/main" id="{4FCBA2EB-B12C-4F82-ADB5-324868DFA6B5}"/>
              </a:ext>
            </a:extLst>
          </p:cNvPr>
          <p:cNvSpPr/>
          <p:nvPr/>
        </p:nvSpPr>
        <p:spPr bwMode="auto">
          <a:xfrm flipH="1">
            <a:off x="2005327" y="5181600"/>
            <a:ext cx="1371600" cy="6096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21300"/>
              <a:gd name="adj6" fmla="val -47583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rbel" panose="020B0503020204020204" pitchFamily="34" charset="0"/>
              </a:rPr>
              <a:t>Os valores de saída são</a:t>
            </a:r>
            <a:r>
              <a:rPr kumimoji="0" lang="pt-BR" i="0" u="none" strike="noStrike" cap="none" normalizeH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rbel" panose="020B0503020204020204" pitchFamily="34" charset="0"/>
              </a:rPr>
              <a:t> contínuos</a:t>
            </a:r>
            <a:endParaRPr kumimoji="0" lang="pt-BR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9" name="Texto Explicativo: Linha Dobrada com Ênfase 5">
            <a:extLst>
              <a:ext uri="{FF2B5EF4-FFF2-40B4-BE49-F238E27FC236}">
                <a16:creationId xmlns:a16="http://schemas.microsoft.com/office/drawing/2014/main" id="{A1D156E9-B627-48B2-8739-B29C37979119}"/>
              </a:ext>
            </a:extLst>
          </p:cNvPr>
          <p:cNvSpPr/>
          <p:nvPr/>
        </p:nvSpPr>
        <p:spPr bwMode="auto">
          <a:xfrm>
            <a:off x="533400" y="1219200"/>
            <a:ext cx="1504122" cy="1112952"/>
          </a:xfrm>
          <a:prstGeom prst="accentCallout2">
            <a:avLst>
              <a:gd name="adj1" fmla="val 21429"/>
              <a:gd name="adj2" fmla="val 99691"/>
              <a:gd name="adj3" fmla="val 21429"/>
              <a:gd name="adj4" fmla="val 107433"/>
              <a:gd name="adj5" fmla="val 92569"/>
              <a:gd name="adj6" fmla="val 172111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effectLst/>
                <a:latin typeface="Corbel" panose="020B0503020204020204" pitchFamily="34" charset="0"/>
              </a:rPr>
              <a:t>Temos exemplos dos resultados esperados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2F2DD0-875C-B85A-DDF1-2C4E0FBEF1FE}"/>
              </a:ext>
            </a:extLst>
          </p:cNvPr>
          <p:cNvSpPr/>
          <p:nvPr/>
        </p:nvSpPr>
        <p:spPr>
          <a:xfrm>
            <a:off x="8757720" y="4133880"/>
            <a:ext cx="3105000" cy="175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Etapas Principais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arenR"/>
            </a:pPr>
            <a:r>
              <a:rPr lang="pt-BR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Identificar </a:t>
            </a:r>
            <a:r>
              <a:rPr lang="pt-BR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o problema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arenR"/>
            </a:pPr>
            <a:r>
              <a:rPr lang="pt-BR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Coletar </a:t>
            </a:r>
            <a:r>
              <a:rPr lang="pt-BR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os dados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arenR"/>
            </a:pPr>
            <a:r>
              <a:rPr lang="pt-BR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Desenvolver </a:t>
            </a:r>
            <a:r>
              <a:rPr lang="pt-BR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o modelo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arenR"/>
            </a:pPr>
            <a:r>
              <a:rPr lang="pt-BR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Analisar </a:t>
            </a:r>
            <a:r>
              <a:rPr lang="pt-BR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os resultados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arenR"/>
            </a:pPr>
            <a:r>
              <a:rPr lang="pt-BR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Operacionalizar </a:t>
            </a:r>
            <a:r>
              <a:rPr lang="pt-BR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o sistema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977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4775200" cy="1127388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73EE57AD-6285-D41F-C947-90C52F9E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err="1"/>
              <a:t>LLMs</a:t>
            </a:r>
            <a:r>
              <a:rPr lang="pt-BR" sz="2400" dirty="0"/>
              <a:t>: Uma </a:t>
            </a:r>
            <a:r>
              <a:rPr lang="pt-BR" sz="2400" dirty="0" err="1"/>
              <a:t>Idéia</a:t>
            </a:r>
            <a:r>
              <a:rPr lang="pt-BR" sz="2400" dirty="0"/>
              <a:t> Simples ...</a:t>
            </a:r>
          </a:p>
        </p:txBody>
      </p:sp>
    </p:spTree>
    <p:extLst>
      <p:ext uri="{BB962C8B-B14F-4D97-AF65-F5344CB8AC3E}">
        <p14:creationId xmlns:p14="http://schemas.microsoft.com/office/powerpoint/2010/main" val="212590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 err="1"/>
              <a:t>LLMs</a:t>
            </a:r>
            <a:r>
              <a:rPr lang="pt-BR" sz="2400" dirty="0"/>
              <a:t>: Uma </a:t>
            </a:r>
            <a:r>
              <a:rPr lang="pt-BR" sz="2400" dirty="0" err="1"/>
              <a:t>Idéia</a:t>
            </a:r>
            <a:r>
              <a:rPr lang="pt-BR" sz="2400" dirty="0"/>
              <a:t> Simples, Um Modelo Complexo, ...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4775200" cy="112738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55" y="1965588"/>
            <a:ext cx="5858490" cy="423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9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1EB6931-C2D4-2A89-4C6C-AA0D3BC9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err="1"/>
              <a:t>LLMs</a:t>
            </a:r>
            <a:r>
              <a:rPr lang="pt-BR" sz="2400" dirty="0"/>
              <a:t>: Uma </a:t>
            </a:r>
            <a:r>
              <a:rPr lang="pt-BR" sz="2400" dirty="0" err="1"/>
              <a:t>Idéia</a:t>
            </a:r>
            <a:r>
              <a:rPr lang="pt-BR" sz="2400" dirty="0"/>
              <a:t> Simples, Um Modelo Complexo, Uma Execução ... Quase Impossível!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4775200" cy="112738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55" y="1965588"/>
            <a:ext cx="5858490" cy="423253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338" y="685800"/>
            <a:ext cx="5312954" cy="1943308"/>
          </a:xfrm>
          <a:prstGeom prst="rect">
            <a:avLst/>
          </a:prstGeom>
        </p:spPr>
      </p:pic>
      <p:pic>
        <p:nvPicPr>
          <p:cNvPr id="12290" name="Picture 2" descr="https://miro.medium.com/v2/resize:fit:1003/1*IaDlHOMavNm-8AV0cAbDY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015" y="2629108"/>
            <a:ext cx="5181600" cy="237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6693880" y="5016999"/>
            <a:ext cx="54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GPT-4: 1T de Parâmetros, GPT-5: 10T de </a:t>
            </a:r>
            <a:r>
              <a:rPr lang="pt-BR" b="1" dirty="0" err="1"/>
              <a:t>Parâm</a:t>
            </a:r>
            <a:r>
              <a:rPr lang="pt-BR" b="1" dirty="0"/>
              <a:t>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629400" y="5403677"/>
            <a:ext cx="533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Cérebr.Humano</a:t>
            </a:r>
            <a:r>
              <a:rPr lang="pt-BR" b="1" dirty="0"/>
              <a:t>: 86B Neurônios, 7k Sinapses cada ~ 600T de Parâmetros</a:t>
            </a:r>
          </a:p>
        </p:txBody>
      </p:sp>
    </p:spTree>
    <p:extLst>
      <p:ext uri="{BB962C8B-B14F-4D97-AF65-F5344CB8AC3E}">
        <p14:creationId xmlns:p14="http://schemas.microsoft.com/office/powerpoint/2010/main" val="226820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40ACC6-43ED-3641-01FF-3DDAB14C8F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Ele vai passar (já passou?) no </a:t>
            </a:r>
            <a:r>
              <a:rPr lang="pt-BR" i="1" dirty="0"/>
              <a:t>Teste de Turing. </a:t>
            </a:r>
            <a:r>
              <a:rPr lang="pt-BR" dirty="0"/>
              <a:t>Ele estará (está?) </a:t>
            </a:r>
            <a:r>
              <a:rPr lang="pt-BR" i="1" dirty="0"/>
              <a:t>consciente</a:t>
            </a:r>
            <a:r>
              <a:rPr lang="pt-BR" dirty="0"/>
              <a:t>? </a:t>
            </a:r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77771C-AB5A-990D-6FF1-27BE63FD3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Novas </a:t>
            </a:r>
            <a:r>
              <a:rPr lang="en-US" dirty="0" err="1"/>
              <a:t>Soluções</a:t>
            </a:r>
            <a:r>
              <a:rPr lang="en-US" dirty="0"/>
              <a:t> vs </a:t>
            </a:r>
            <a:r>
              <a:rPr lang="en-US" dirty="0" err="1"/>
              <a:t>Antigas</a:t>
            </a:r>
            <a:r>
              <a:rPr lang="en-US" dirty="0"/>
              <a:t> </a:t>
            </a:r>
            <a:r>
              <a:rPr lang="en-US" dirty="0" err="1"/>
              <a:t>Questões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8CC64BE-1C51-59CE-8187-D3C1C85F05B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pt-BR" dirty="0"/>
              <a:t>Mas como vamos diferenciar uma </a:t>
            </a:r>
            <a:r>
              <a:rPr lang="pt-BR" i="1" dirty="0"/>
              <a:t>máquina </a:t>
            </a:r>
            <a:r>
              <a:rPr lang="pt-BR" dirty="0"/>
              <a:t>que imita a consciência da </a:t>
            </a:r>
            <a:r>
              <a:rPr lang="pt-BR" i="1" dirty="0"/>
              <a:t>consciência “</a:t>
            </a:r>
            <a:r>
              <a:rPr lang="pt-BR" dirty="0"/>
              <a:t>real”?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FACF2D-2F43-EDD1-C890-83D4688094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329" y="2305538"/>
            <a:ext cx="2819400" cy="38606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AEAEACF-8E86-ED0D-8BFE-7A3F4A117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671" y="1899138"/>
            <a:ext cx="2819400" cy="42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0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56D2DD9-8451-4633-9413-2A3248F987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BF2C2E-5A4F-4AD5-B53A-832950372BB8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442699-BBA5-4942-96F9-38AB11359448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71450" cy="3886200"/>
          </a:xfrm>
          <a:prstGeom prst="rect">
            <a:avLst/>
          </a:prstGeom>
          <a:solidFill>
            <a:srgbClr val="2C95DD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0F714E-E535-4DBC-9831-16393D972CE0}"/>
              </a:ext>
            </a:extLst>
          </p:cNvPr>
          <p:cNvSpPr>
            <a:spLocks noGrp="1"/>
          </p:cNvSpPr>
          <p:nvPr/>
        </p:nvSpPr>
        <p:spPr>
          <a:xfrm>
            <a:off x="952500" y="112395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200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644059-BF5E-458E-88E5-AB79BBD5A6B9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9810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33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estratégia quantitativa da consultoria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70EA3B-830E-48EE-8F80-570A56AF8B94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93345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Avaliação inicial de uma proposta para alternar entre BOVA11 e Selic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C55B3A5-AF39-44AD-B582-AE59CC123081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8096250" cy="876300"/>
          </a:xfrm>
          <a:prstGeom prst="roundRect">
            <a:avLst>
              <a:gd name="adj" fmla="val 869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95EC893-5707-4BD7-B29B-B700A4AFCFF4}"/>
              </a:ext>
            </a:extLst>
          </p:cNvPr>
          <p:cNvSpPr>
            <a:spLocks noGrp="1"/>
          </p:cNvSpPr>
          <p:nvPr/>
        </p:nvSpPr>
        <p:spPr>
          <a:xfrm>
            <a:off x="1181100" y="4400550"/>
            <a:ext cx="76390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comitê deve autorizar a utilização de recursos reais?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E598EA-DA2F-49A9-AAD4-2A4875655FDB}"/>
              </a:ext>
            </a:extLst>
          </p:cNvPr>
          <p:cNvSpPr>
            <a:spLocks noGrp="1"/>
          </p:cNvSpPr>
          <p:nvPr/>
        </p:nvSpPr>
        <p:spPr>
          <a:xfrm>
            <a:off x="952500" y="58578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IA Aplicada à Gestão de Investimentos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341FCE-35DD-43E7-974C-B4A83A17CE36}"/>
              </a:ext>
            </a:extLst>
          </p:cNvPr>
          <p:cNvSpPr>
            <a:spLocks noGrp="1"/>
          </p:cNvSpPr>
          <p:nvPr/>
        </p:nvSpPr>
        <p:spPr>
          <a:xfrm>
            <a:off x="9620250" y="5857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0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</p:spTree>
    <p:extLst>
      <p:ext uri="{BB962C8B-B14F-4D97-AF65-F5344CB8AC3E}">
        <p14:creationId xmlns:p14="http://schemas.microsoft.com/office/powerpoint/2010/main" val="750038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8BB8D3C9-9346-4FA5-B2E9-61EDFE413B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B5F6D370-290B-4688-8818-50ADBDF319B7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60B9EA1C-8AC8-433C-BCBB-77638EA2DF6C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Sua função no comitê de investimentos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A5791C53-E829-472C-89BD-4ED93C8BDDCB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primeira decisão será tomada com as informações fornecidas pela consultoria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31A102-02D4-4FE7-944F-9266AEFB362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41A3B4-5D42-49A1-8F59-7520DE0C60E9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9BBD62-8211-4378-B72E-56968B4B0BC6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5238750" cy="4333875"/>
          </a:xfrm>
          <a:prstGeom prst="roundRect">
            <a:avLst>
              <a:gd name="adj" fmla="val 175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1B3BF6-608C-4322-966E-3A1A562E875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que será observado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FE70BC0-58C6-4EFE-849A-73A7A8EF1853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501015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Como a base e os indicadores estão organizados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Quais métricas preditivas e financeiras são apresentadas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Como as probabilidades se transformam em decisões de investimento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8A23A1C-5C5C-4BD3-B6EE-E7D1428B955A}"/>
              </a:ext>
            </a:extLst>
          </p:cNvPr>
          <p:cNvSpPr>
            <a:spLocks noGrp="1"/>
          </p:cNvSpPr>
          <p:nvPr/>
        </p:nvSpPr>
        <p:spPr>
          <a:xfrm>
            <a:off x="5981700" y="1381125"/>
            <a:ext cx="5753100" cy="4333875"/>
          </a:xfrm>
          <a:prstGeom prst="roundRect">
            <a:avLst>
              <a:gd name="adj" fmla="val 1758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A3ECC45-C597-4FB4-8391-1EA1EAD476F0}"/>
              </a:ext>
            </a:extLst>
          </p:cNvPr>
          <p:cNvSpPr>
            <a:spLocks noGrp="1"/>
          </p:cNvSpPr>
          <p:nvPr/>
        </p:nvSpPr>
        <p:spPr>
          <a:xfrm>
            <a:off x="6134100" y="1495425"/>
            <a:ext cx="544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do grupo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3F1AA9-11C4-4C02-8194-B26CB864B8E7}"/>
              </a:ext>
            </a:extLst>
          </p:cNvPr>
          <p:cNvSpPr>
            <a:spLocks noGrp="1"/>
          </p:cNvSpPr>
          <p:nvPr/>
        </p:nvSpPr>
        <p:spPr>
          <a:xfrm>
            <a:off x="6134100" y="1857375"/>
            <a:ext cx="544830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 memorando de até uma página com recomendação, evidências, riscos, informações pendentes e decisão sobre o uso de recursos reais.</a:t>
            </a:r>
          </a:p>
        </p:txBody>
      </p:sp>
    </p:spTree>
    <p:extLst>
      <p:ext uri="{BB962C8B-B14F-4D97-AF65-F5344CB8AC3E}">
        <p14:creationId xmlns:p14="http://schemas.microsoft.com/office/powerpoint/2010/main" val="135836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7D0AA69A-3CB1-406A-BFBE-389E0FD99C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0C972171-760D-4BCD-8908-DD67F7DAFF0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07905DDA-EDA9-4D00-B3DF-B492441C9160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caso da consultoria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554E771E-A22A-4C57-BD91-B9F272104285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Uma base pronta, indicadores proprietários e um resultado excepcional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BA91687-AA0C-4D90-B85A-18EB6E8BEA8D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B5C877-073C-4E92-BFFD-3D158BC2AF15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BC5EED4-7139-49D6-9D5D-2D55901711D6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CA28DB-B541-4C44-A634-86489098F674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Promessa recebida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173A61F-223F-4807-B11A-665ED20B9922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Sinal diário para BOVA11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Acurácia e AUC elevadas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Curva de patrimônio quase contínua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Implantação sugerida com limiar de 0,50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FA8AF07-F1C6-4350-92EF-2866FF4B7B1D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ECE52E9-2D29-47DF-A08F-43342897E467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Pergunta de negócio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7C577E-A5D2-4FE9-87A2-2926E89A9EAE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53149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 as evidências apresentadas, a gestora deve aprovar, testar, pedir esclarecimentos ou rejeitar a estratégia?</a:t>
            </a:r>
          </a:p>
        </p:txBody>
      </p:sp>
    </p:spTree>
    <p:extLst>
      <p:ext uri="{BB962C8B-B14F-4D97-AF65-F5344CB8AC3E}">
        <p14:creationId xmlns:p14="http://schemas.microsoft.com/office/powerpoint/2010/main" val="3701088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F248C7AD-D972-49BF-BBB8-02A876D16A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A2BC55F-67C9-401D-9A7E-33B855D55FC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46AF4CAD-3A01-4BBD-858C-5206295E433A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Procedimento informado pela consultoria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498595BC-403F-4C50-8F5E-F6836510B4A9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proposta será reproduzida antes da recomendação do comitê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EE4CFA2-A318-490C-A460-F8CC1055D37B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7E9D9B-7616-4E13-9412-CE0D8E25D6AC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58EA65A-E4B4-4F91-9CD5-E6B333B33E6B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20CA97C-F9A9-47E2-90D4-A521877F963C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7D68D9-9822-4E46-AE42-D5D2D99A1FCE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A51E1E-E7A8-4EDB-BB49-E4E13F72486F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Base de dados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E4716FA-1C2C-4DFF-9423-B89878E9996B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Preços, Selic, PTAX, atributos de mercado e cinco indicadores proprietários.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B6424BE-52F1-42E5-AFAC-1BD3EDE4424A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A8CBA5C-C731-4247-9E7E-93EC15BE235A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D69940E-FFDA-47C0-830F-2C075707F3D3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D53B846-FF42-4049-8563-E8ECC0705B54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Partição 80/20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D7F688C-AC20-4153-A7C4-0E9DAA7CECC1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consultoria separa treino e teste com estratificação da variável-alvo.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0DE7E7-A18C-4279-B0C8-13D37CDD434D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DE1DFEF-1C84-4F31-889B-F8112DBC3C17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42EC2B8-324F-440E-9198-639C5ACC6C1E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CAA4AE1-69DF-4B85-8453-4046472FA1BB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D859363-FD95-4AB4-92CA-447CC3FAB5FC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regressão logística estima a probabilidade de o BOVA11 superar a Selic.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79262AE-DBF2-4620-9E66-776DC8F16740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66E8F8F-7A6E-4172-90B3-C1AB3AE56507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37AEE11-C4BD-442B-839F-CC838B68EDF6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DCF5981-35BF-4393-94C4-3754FA57B61D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Decisão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8C9808A-1386-4484-B2AA-672987EEEA60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Probabilidade igual ou superior a 0,50 aloca em BOVA11; caso contrário, Selic.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76D6770-A19E-454F-A26B-73EE7995E277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8C2917D-D261-463F-BAF5-B57D75535671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Nesta etapa, o objetivo é reproduzir as métricas e o backtest apresentados.</a:t>
            </a:r>
          </a:p>
        </p:txBody>
      </p:sp>
    </p:spTree>
    <p:extLst>
      <p:ext uri="{BB962C8B-B14F-4D97-AF65-F5344CB8AC3E}">
        <p14:creationId xmlns:p14="http://schemas.microsoft.com/office/powerpoint/2010/main" val="412054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2EFFB814-3093-4018-BB4E-DF8DAFE644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2F251338-9AE0-447E-B8B0-148A998D85AA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2D3D1B4F-653A-4778-A280-393A8CCDCE8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Primeira etapa no R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22866C81-0D1E-4630-8F5E-8796838117CD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Execute o script dos alunos até a elaboração das recomendações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F0C5759-3426-4FBF-B2E4-9171DD5BAD27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ED4AFC3-B3C2-4B02-BDEC-C486D8535F6A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90B709D-C61E-41E1-8C8B-E8F33ED97295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810292-4DB0-4387-807F-78E3B6ED739C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ARQUIVOS NA MESMA PASTA DO PROJETO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base_estrategia_consultoria_alunos.xlsx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01_estrategia_consultoria_alunos.R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EXECUÇÃO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Seções 0 a 5 do script dos alunos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C142AF5-9289-4247-BEB6-BB153FF3B0FA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8EEDBD-98CC-4965-BEB0-1AFEDD0F349C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Resultados desta etapa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8DDEEA9-8BF8-4417-94AC-0FFAEDBB48CD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Acurácia, sensibilidade, especificidade e AUC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Retorno anualizado, volatilidade, Sharpe e drawdown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Comparação do modelo com BOVA11 e Selic</a:t>
            </a:r>
          </a:p>
        </p:txBody>
      </p:sp>
    </p:spTree>
    <p:extLst>
      <p:ext uri="{BB962C8B-B14F-4D97-AF65-F5344CB8AC3E}">
        <p14:creationId xmlns:p14="http://schemas.microsoft.com/office/powerpoint/2010/main" val="194421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267E2F7B-623A-4C08-82BF-1615A91B3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5E4EF13E-00AC-4AAD-8E81-42FB618E8C0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EE271140-162C-4E24-A73A-E56B46C6BFDB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Memorando ao comitê de investimentos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14F9F3CB-7219-4A28-9809-795C2B771D9F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Registre a decisão antes da discussão coletiva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4E1BDE-9022-468B-98A0-96481F822C62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204EA1-24F0-4FC6-AC55-D07BFB4FC1A5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2603289-6F43-4BFA-B13A-E7D520BDA567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BEF3F7-FEEA-4FA6-AFD4-D9015446C40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Recomendação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FCD18AB-A6E5-4025-8C57-39B83E27BA0C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Aprovar a estratégia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Realizar um piloto controlado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Solicitar esclarecimentos adicionais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Rejeitar a proposta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3507BC-C473-4E95-A77D-1098A8A46FA8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C616648-6C15-4686-9950-B98EBE1B486E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Fundamentação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777ACCE-F1BE-4F18-AC7E-D350387CBCC6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Quais resultados sustentam a decisão?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Quais riscos ainda não foram verificados?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O grupo autorizaria recursos reais? Por quê?</a:t>
            </a:r>
          </a:p>
        </p:txBody>
      </p:sp>
    </p:spTree>
    <p:extLst>
      <p:ext uri="{BB962C8B-B14F-4D97-AF65-F5344CB8AC3E}">
        <p14:creationId xmlns:p14="http://schemas.microsoft.com/office/powerpoint/2010/main" val="381295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aixa-superior">
            <a:extLst>
              <a:ext uri="{FF2B5EF4-FFF2-40B4-BE49-F238E27FC236}">
                <a16:creationId xmlns:a16="http://schemas.microsoft.com/office/drawing/2014/main" id="{7D57F4CE-7083-438A-9950-CBD964C19E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DCEC3FC0-2868-414F-BE11-1D1CB963EE3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21ABC0AF-2C27-4978-B6D2-4E720D4106EB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Retomada das recomendações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0550CBE5-5B92-4FBE-A24B-6DBB0B00166C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Cada grupo registra sua decisão antes da verificação independente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7A907BA-76CF-498C-AD06-E5157AFC5EB5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7AC6DD-ABF6-4072-AA67-EA3248396721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1F247E6-607C-4D0E-BAC3-BA0CF34EF91D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1C2394-4775-4C42-AC1E-7503B2EE2784}"/>
              </a:ext>
            </a:extLst>
          </p:cNvPr>
          <p:cNvSpPr>
            <a:spLocks noGrp="1"/>
          </p:cNvSpPr>
          <p:nvPr/>
        </p:nvSpPr>
        <p:spPr>
          <a:xfrm>
            <a:off x="571500" y="14001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DB40A2-A79C-4739-917A-CEF453EB031D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Qual decisão o grupo escolheu?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2A4A11-2E32-4D8B-9644-2BD74D0C0F75}"/>
              </a:ext>
            </a:extLst>
          </p:cNvPr>
          <p:cNvSpPr>
            <a:spLocks noGrp="1"/>
          </p:cNvSpPr>
          <p:nvPr/>
        </p:nvSpPr>
        <p:spPr>
          <a:xfrm>
            <a:off x="6210300" y="12858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1543DF-F5AF-455D-8270-D4DCEC947CC2}"/>
              </a:ext>
            </a:extLst>
          </p:cNvPr>
          <p:cNvSpPr>
            <a:spLocks noGrp="1"/>
          </p:cNvSpPr>
          <p:nvPr/>
        </p:nvSpPr>
        <p:spPr>
          <a:xfrm>
            <a:off x="6324600" y="14001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5FED918-DF59-4E75-BBE1-C715FA45D515}"/>
              </a:ext>
            </a:extLst>
          </p:cNvPr>
          <p:cNvSpPr>
            <a:spLocks noGrp="1"/>
          </p:cNvSpPr>
          <p:nvPr/>
        </p:nvSpPr>
        <p:spPr>
          <a:xfrm>
            <a:off x="6800850" y="13811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Qual evidência teve maior peso?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A96B2DF-FB45-4FC7-A9B7-8697E428BC1B}"/>
              </a:ext>
            </a:extLst>
          </p:cNvPr>
          <p:cNvSpPr>
            <a:spLocks noGrp="1"/>
          </p:cNvSpPr>
          <p:nvPr/>
        </p:nvSpPr>
        <p:spPr>
          <a:xfrm>
            <a:off x="457200" y="24669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5B7E640-0BF9-4842-8315-68867C10A0C3}"/>
              </a:ext>
            </a:extLst>
          </p:cNvPr>
          <p:cNvSpPr>
            <a:spLocks noGrp="1"/>
          </p:cNvSpPr>
          <p:nvPr/>
        </p:nvSpPr>
        <p:spPr>
          <a:xfrm>
            <a:off x="571500" y="25812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1643D1F-5D7D-4404-8596-129B83368A31}"/>
              </a:ext>
            </a:extLst>
          </p:cNvPr>
          <p:cNvSpPr>
            <a:spLocks noGrp="1"/>
          </p:cNvSpPr>
          <p:nvPr/>
        </p:nvSpPr>
        <p:spPr>
          <a:xfrm>
            <a:off x="1047750" y="25622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Qual é o principal risco identificado?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0C4552D-FC80-41F9-B239-9B9B6C654CEB}"/>
              </a:ext>
            </a:extLst>
          </p:cNvPr>
          <p:cNvSpPr>
            <a:spLocks noGrp="1"/>
          </p:cNvSpPr>
          <p:nvPr/>
        </p:nvSpPr>
        <p:spPr>
          <a:xfrm>
            <a:off x="6210300" y="24669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9957674-AF83-490F-ABF7-5ABBA4A4A984}"/>
              </a:ext>
            </a:extLst>
          </p:cNvPr>
          <p:cNvSpPr>
            <a:spLocks noGrp="1"/>
          </p:cNvSpPr>
          <p:nvPr/>
        </p:nvSpPr>
        <p:spPr>
          <a:xfrm>
            <a:off x="6324600" y="25812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33BF540-B5AA-4D40-8501-DFD8306AB6C6}"/>
              </a:ext>
            </a:extLst>
          </p:cNvPr>
          <p:cNvSpPr>
            <a:spLocks noGrp="1"/>
          </p:cNvSpPr>
          <p:nvPr/>
        </p:nvSpPr>
        <p:spPr>
          <a:xfrm>
            <a:off x="6800850" y="25622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Que informação adicional foi solicitada?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3128C0F-1A6A-49E5-AF01-FE0AC16C9E53}"/>
              </a:ext>
            </a:extLst>
          </p:cNvPr>
          <p:cNvSpPr>
            <a:spLocks noGrp="1"/>
          </p:cNvSpPr>
          <p:nvPr/>
        </p:nvSpPr>
        <p:spPr>
          <a:xfrm>
            <a:off x="457200" y="36480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3A55FA2-3F81-4EFC-BD92-4E2163391774}"/>
              </a:ext>
            </a:extLst>
          </p:cNvPr>
          <p:cNvSpPr>
            <a:spLocks noGrp="1"/>
          </p:cNvSpPr>
          <p:nvPr/>
        </p:nvSpPr>
        <p:spPr>
          <a:xfrm>
            <a:off x="571500" y="37623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DEDC3DA-AD0F-4E3C-A637-D8826FCE33D5}"/>
              </a:ext>
            </a:extLst>
          </p:cNvPr>
          <p:cNvSpPr>
            <a:spLocks noGrp="1"/>
          </p:cNvSpPr>
          <p:nvPr/>
        </p:nvSpPr>
        <p:spPr>
          <a:xfrm>
            <a:off x="1047750" y="37433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grupo autorizaria recursos reais?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A7EF7A6-B7F0-42AE-A6A3-3A2761E521CB}"/>
              </a:ext>
            </a:extLst>
          </p:cNvPr>
          <p:cNvSpPr>
            <a:spLocks noGrp="1"/>
          </p:cNvSpPr>
          <p:nvPr/>
        </p:nvSpPr>
        <p:spPr>
          <a:xfrm>
            <a:off x="6210300" y="36480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50E1597-F435-4B7D-8A3A-1916EDC60E30}"/>
              </a:ext>
            </a:extLst>
          </p:cNvPr>
          <p:cNvSpPr>
            <a:spLocks noGrp="1"/>
          </p:cNvSpPr>
          <p:nvPr/>
        </p:nvSpPr>
        <p:spPr>
          <a:xfrm>
            <a:off x="6324600" y="37623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F766752-59AD-4319-95E0-4A287D2D1515}"/>
              </a:ext>
            </a:extLst>
          </p:cNvPr>
          <p:cNvSpPr>
            <a:spLocks noGrp="1"/>
          </p:cNvSpPr>
          <p:nvPr/>
        </p:nvSpPr>
        <p:spPr>
          <a:xfrm>
            <a:off x="6800850" y="37433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Qual é o grau de confiança na decisão?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0A80571-FC37-40F6-8778-B56D3CD8D6A2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A07F1EE-D159-4332-B308-F15DCE06AEFF}"/>
              </a:ext>
            </a:extLst>
          </p:cNvPr>
          <p:cNvSpPr>
            <a:spLocks noGrp="1"/>
          </p:cNvSpPr>
          <p:nvPr/>
        </p:nvSpPr>
        <p:spPr>
          <a:xfrm>
            <a:off x="571500" y="49434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92D71BD-CD94-4BE8-832C-6C0A0E358061}"/>
              </a:ext>
            </a:extLst>
          </p:cNvPr>
          <p:cNvSpPr>
            <a:spLocks noGrp="1"/>
          </p:cNvSpPr>
          <p:nvPr/>
        </p:nvSpPr>
        <p:spPr>
          <a:xfrm>
            <a:off x="1047750" y="49244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Quais condições seriam impostas à consultoria?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A2E66EB-7E49-4211-AB80-E65891F9B228}"/>
              </a:ext>
            </a:extLst>
          </p:cNvPr>
          <p:cNvSpPr>
            <a:spLocks noGrp="1"/>
          </p:cNvSpPr>
          <p:nvPr/>
        </p:nvSpPr>
        <p:spPr>
          <a:xfrm>
            <a:off x="6210300" y="48291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4BE120E-3978-4552-AA50-147FFDAA5568}"/>
              </a:ext>
            </a:extLst>
          </p:cNvPr>
          <p:cNvSpPr>
            <a:spLocks noGrp="1"/>
          </p:cNvSpPr>
          <p:nvPr/>
        </p:nvSpPr>
        <p:spPr>
          <a:xfrm>
            <a:off x="6324600" y="49434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C1BFEAA-592A-40FE-A214-C01772EA2C96}"/>
              </a:ext>
            </a:extLst>
          </p:cNvPr>
          <p:cNvSpPr>
            <a:spLocks noGrp="1"/>
          </p:cNvSpPr>
          <p:nvPr/>
        </p:nvSpPr>
        <p:spPr>
          <a:xfrm>
            <a:off x="6800850" y="49244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Quem apresentará a síntese do grupo?</a:t>
            </a:r>
          </a:p>
        </p:txBody>
      </p:sp>
    </p:spTree>
    <p:extLst>
      <p:ext uri="{BB962C8B-B14F-4D97-AF65-F5344CB8AC3E}">
        <p14:creationId xmlns:p14="http://schemas.microsoft.com/office/powerpoint/2010/main" val="1951512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6EF84E99-1F64-44B1-8A69-C0364D62DF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C68035F9-AE08-4D29-BDC7-EB2CE6DE5F3F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F80AB90F-CA84-44E3-8043-CC03D83F20E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auditoria começa pelo tempo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C1E5E414-97B0-4CA7-ABF9-15F1664D2252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R mostra as datas presentes no treino e no teste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0949EF-D5D9-415A-8A91-E83BAE30E97B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CCAEE35-760C-498C-9A7A-86C551873D45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FA4EE0-E3A1-44FB-840A-3567D848DF99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2D84A44-85FD-420A-933E-4334B340B46D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AB53661-15C1-46C6-9CE4-8DF8CF5F6E2A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7D163EC-D812-4650-8251-E683FB9E8284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Treino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B1C1E4-C3CB-4E69-996C-7E695A8AED85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partição aleatória inclui observações de 2015 a 2025.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8633D3F-99DC-4335-9E0D-7961BB9E5037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7C3DC2D-4025-4817-8100-CEDAE81C0FC4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43AA3D5-AE12-451B-B8BA-B3F4C2A12FED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6A29AF6-E22A-4976-A150-306E4435E0A8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Teste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F760F13-AA64-4B45-9D52-8B744CBAC28C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conjunto de avaliação também contém datas de 2015 a 2025.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3214348-65B3-4542-B9E2-317682A774CC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6685D6B-D894-4B5C-87E8-630FF7896392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59A9785-5429-45A2-8161-B9A3FC36B50E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A666004-802D-440F-8774-0981813BD525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Consequência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3DCCA4D-B00A-46BD-944D-A74182374C89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modelo aprende regimes posteriores ao período que pretende avaliar.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25BACA9-420A-4CF0-AC78-D3DA2398E271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ABD967F-55E3-4D64-9FD6-2FA1AC966408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6C25336-B5CD-4253-A486-1F0774B59F85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EFE14CE-5219-460A-924F-DC7782A361FC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472FC8F-52E2-45FD-A6E4-3802632F59C7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Isso representa uma implantação genuinamente fora da amostra?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CE6302A-7543-4CA0-94DA-B4908831D770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DB35FA7-400E-462B-9756-ED578CBA0AEB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estratificação preserva classes, mas não preserva a ordem temporal</a:t>
            </a:r>
          </a:p>
        </p:txBody>
      </p:sp>
    </p:spTree>
    <p:extLst>
      <p:ext uri="{BB962C8B-B14F-4D97-AF65-F5344CB8AC3E}">
        <p14:creationId xmlns:p14="http://schemas.microsoft.com/office/powerpoint/2010/main" val="3264928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9F671BA5-02D3-4A0C-BB59-2B11476951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7046F306-2673-48D8-BF38-01F927575850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EC649264-21D6-49F9-BBE1-A7289D7CC7D7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Os preditores revelam o futuro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D6132A68-B0D7-42AE-B711-6C04075881F2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Correlações e igualdade direta expõem a principal contaminação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609C56-CAE0-4840-981D-8E19594F55E8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DE1210-C135-46D3-AAFC-2EC2042640BD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5A421F0-A6F4-4C71-B0B5-A3706369ECFB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571522-7A58-4A8F-8418-6DF75D652A08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diagnostico_correlacao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all.equal(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base$momentum_curto,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base$retorno_bova_futuro,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check.attributes = FALSE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coeficientes_consultoria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720D447-32B8-4083-9AAB-80B77FA9163D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0A19725-1F98-4E53-AF3B-421892EE5EED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que o R demonstra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244F56-DA25-4B5B-8955-B070D7BFA14B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momentum_curto é igual ao retorno futuro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sinal_externo utiliza informação posterior do IVVB11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pressao_compradora utiliza a máxima de t+1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z-score global e volatilidade centrada enxergam além de t</a:t>
            </a:r>
          </a:p>
        </p:txBody>
      </p:sp>
    </p:spTree>
    <p:extLst>
      <p:ext uri="{BB962C8B-B14F-4D97-AF65-F5344CB8AC3E}">
        <p14:creationId xmlns:p14="http://schemas.microsoft.com/office/powerpoint/2010/main" val="1935538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aixa-superior">
            <a:extLst>
              <a:ext uri="{FF2B5EF4-FFF2-40B4-BE49-F238E27FC236}">
                <a16:creationId xmlns:a16="http://schemas.microsoft.com/office/drawing/2014/main" id="{5D0927F0-45F0-4DC7-B296-0D0130B505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FC4548EA-7723-4591-AA6D-825D0466136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FC00FB1D-1805-4DB8-A502-081CCF7E9AA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Relógio, execução e custos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A0298324-E2A5-4941-BE30-1C5AB01C1BFF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decisão só pode usar informações disponíveis no instante da ordem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36E6981-10C9-4153-8823-470ED699FEEC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601A27D-2F2D-446A-BF8B-9CF01473CC22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C478577-FC36-4E50-8081-6DAEF6C37C04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958A72C-509F-46D3-928C-09A32657F01C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Informação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2991E0-431B-4925-B757-AD8EACBFED35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close(t)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4D60405-3DDB-4981-88CA-D7915EDB9C4C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Os atributos usam dados conhecidos até o fechamento de t.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08F901A-A6D0-4473-BDCA-C434CF96B4A4}"/>
              </a:ext>
            </a:extLst>
          </p:cNvPr>
          <p:cNvSpPr>
            <a:spLocks noGrp="1"/>
          </p:cNvSpPr>
          <p:nvPr/>
        </p:nvSpPr>
        <p:spPr>
          <a:xfrm>
            <a:off x="3319463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661C44F-5946-4C8F-B06E-3DA4EF22D4BD}"/>
              </a:ext>
            </a:extLst>
          </p:cNvPr>
          <p:cNvSpPr>
            <a:spLocks noGrp="1"/>
          </p:cNvSpPr>
          <p:nvPr/>
        </p:nvSpPr>
        <p:spPr>
          <a:xfrm>
            <a:off x="3452813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Ordem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A315EF-8177-4487-854A-865B516922A9}"/>
              </a:ext>
            </a:extLst>
          </p:cNvPr>
          <p:cNvSpPr>
            <a:spLocks noGrp="1"/>
          </p:cNvSpPr>
          <p:nvPr/>
        </p:nvSpPr>
        <p:spPr>
          <a:xfrm>
            <a:off x="3452813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open(t+1)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33ABCDE-7FAF-4C4C-8779-A982C566E2A4}"/>
              </a:ext>
            </a:extLst>
          </p:cNvPr>
          <p:cNvSpPr>
            <a:spLocks noGrp="1"/>
          </p:cNvSpPr>
          <p:nvPr/>
        </p:nvSpPr>
        <p:spPr>
          <a:xfrm>
            <a:off x="3509963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primeira execução possível ocorre na abertura seguinte.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8E8A669-F46F-439D-8EBA-1DE4B5D193DD}"/>
              </a:ext>
            </a:extLst>
          </p:cNvPr>
          <p:cNvSpPr>
            <a:spLocks noGrp="1"/>
          </p:cNvSpPr>
          <p:nvPr/>
        </p:nvSpPr>
        <p:spPr>
          <a:xfrm>
            <a:off x="6181725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B3F3F0C-7732-4A9F-B824-C599AC7E5C9F}"/>
              </a:ext>
            </a:extLst>
          </p:cNvPr>
          <p:cNvSpPr>
            <a:spLocks noGrp="1"/>
          </p:cNvSpPr>
          <p:nvPr/>
        </p:nvSpPr>
        <p:spPr>
          <a:xfrm>
            <a:off x="6315075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Horizonte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A3C9354-3DDC-4CAE-98A2-D0658B0CC419}"/>
              </a:ext>
            </a:extLst>
          </p:cNvPr>
          <p:cNvSpPr>
            <a:spLocks noGrp="1"/>
          </p:cNvSpPr>
          <p:nvPr/>
        </p:nvSpPr>
        <p:spPr>
          <a:xfrm>
            <a:off x="6315075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open–close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7175133-09BA-4950-8D86-B71742AD0975}"/>
              </a:ext>
            </a:extLst>
          </p:cNvPr>
          <p:cNvSpPr>
            <a:spLocks noGrp="1"/>
          </p:cNvSpPr>
          <p:nvPr/>
        </p:nvSpPr>
        <p:spPr>
          <a:xfrm>
            <a:off x="6372225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 retorno executável termina no fechamento de t+1.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7E65565-592E-412A-9DF3-F728B857A7BD}"/>
              </a:ext>
            </a:extLst>
          </p:cNvPr>
          <p:cNvSpPr>
            <a:spLocks noGrp="1"/>
          </p:cNvSpPr>
          <p:nvPr/>
        </p:nvSpPr>
        <p:spPr>
          <a:xfrm>
            <a:off x="9043988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72C5C1-96C4-4B57-8D10-41C1A92D5DE2}"/>
              </a:ext>
            </a:extLst>
          </p:cNvPr>
          <p:cNvSpPr>
            <a:spLocks noGrp="1"/>
          </p:cNvSpPr>
          <p:nvPr/>
        </p:nvSpPr>
        <p:spPr>
          <a:xfrm>
            <a:off x="9177338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Custo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524B008-1A40-4C59-9D9F-E8752CAA019D}"/>
              </a:ext>
            </a:extLst>
          </p:cNvPr>
          <p:cNvSpPr>
            <a:spLocks noGrp="1"/>
          </p:cNvSpPr>
          <p:nvPr/>
        </p:nvSpPr>
        <p:spPr>
          <a:xfrm>
            <a:off x="9177338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10 bps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03FFD0-6203-4C6F-AEFE-7033E7B4624D}"/>
              </a:ext>
            </a:extLst>
          </p:cNvPr>
          <p:cNvSpPr>
            <a:spLocks noGrp="1"/>
          </p:cNvSpPr>
          <p:nvPr/>
        </p:nvSpPr>
        <p:spPr>
          <a:xfrm>
            <a:off x="9234488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Cada mudança de posição reduz o retorno líquido.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E6B914D-FA09-4634-88D9-5388598D6CFF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781050"/>
          </a:xfrm>
          <a:prstGeom prst="roundRect">
            <a:avLst>
              <a:gd name="adj" fmla="val 975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5FAEC28-7777-4955-8679-D8CA92289144}"/>
              </a:ext>
            </a:extLst>
          </p:cNvPr>
          <p:cNvSpPr>
            <a:spLocks noGrp="1"/>
          </p:cNvSpPr>
          <p:nvPr/>
        </p:nvSpPr>
        <p:spPr>
          <a:xfrm>
            <a:off x="1952625" y="5095875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Estratégia e benchmark precisam usar o mesmo período, horizonte e exposição.</a:t>
            </a:r>
          </a:p>
        </p:txBody>
      </p:sp>
    </p:spTree>
    <p:extLst>
      <p:ext uri="{BB962C8B-B14F-4D97-AF65-F5344CB8AC3E}">
        <p14:creationId xmlns:p14="http://schemas.microsoft.com/office/powerpoint/2010/main" val="2576325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404C62FA-4AAD-455D-A947-2F015A4C7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EEE6341-A9AA-4D1E-B160-332C3E2DC41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8375F157-9A6C-45C6-92F1-E78572BB1B4F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Baseline temporal e executável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9CF1996D-BA0F-4A7B-A076-31B9C3930FA7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Mesmo modelo e limiar, agora com controles compatíveis com produção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1BAAB31-7C3C-4D78-9D64-D17FCACAF012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7CB4E31-5E12-490C-B9E6-83929A8602D0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F5E4929-7CE7-485F-ABAE-D2AD5D8F2210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4FA3A10-E3CD-49B8-9414-CF71FE8FC5FE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Reconstrução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B1C0404-03A1-43C7-82A6-DD78675F92BE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Treinamento de 2015 a 2019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Validação de 2020 a 2022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Teste final de 2023 a 2025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Somente atributos disponíveis até t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Pré-processamento estimado no treino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14E14DB-F2B8-48B1-8A69-86D0586FA8C4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0C5473-4AE4-4138-BD76-4BEE735C405D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Avaliação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BFBF2A-38BE-4D66-800E-C002826FE602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Ordem executada na abertura seguinte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Custo de 10 bps nas mudanças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Benchmark no mesmo período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Teste final aberto uma única vez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Comparação de AUC, retorno, Sharpe e MDD</a:t>
            </a:r>
          </a:p>
        </p:txBody>
      </p:sp>
    </p:spTree>
    <p:extLst>
      <p:ext uri="{BB962C8B-B14F-4D97-AF65-F5344CB8AC3E}">
        <p14:creationId xmlns:p14="http://schemas.microsoft.com/office/powerpoint/2010/main" val="1879118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aixa-superior">
            <a:extLst>
              <a:ext uri="{FF2B5EF4-FFF2-40B4-BE49-F238E27FC236}">
                <a16:creationId xmlns:a16="http://schemas.microsoft.com/office/drawing/2014/main" id="{348A7F3E-C9F8-44E9-B1AC-4FFCAAB953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CC9C6C06-0FA7-428A-8699-C1F8E947B228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0282848A-0B91-46BF-9714-4A326C12B935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Conclusão e segunda votação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0583F789-3B6D-4A51-850C-FC8C0C717730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decisão pode mudar quando o pipeline passa por verificação independente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99ED76-40C9-4213-BFFF-463474BA2314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D5178E-342F-4B90-A853-BAD015585E28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E029316-4E8C-4FA9-A4F1-0EB9A395FEEE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10858500" cy="3714750"/>
          </a:xfrm>
          <a:prstGeom prst="roundRect">
            <a:avLst>
              <a:gd name="adj" fmla="val 2051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19B0100-0122-4124-9A69-39FBF35A8751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24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Depois das evidências no R, o grupo mantém sua recomendação?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12383C-40A3-46C8-AE0C-6A4F72F6BE99}"/>
              </a:ext>
            </a:extLst>
          </p:cNvPr>
          <p:cNvSpPr>
            <a:spLocks noGrp="1"/>
          </p:cNvSpPr>
          <p:nvPr/>
        </p:nvSpPr>
        <p:spPr>
          <a:xfrm>
            <a:off x="1714500" y="3238500"/>
            <a:ext cx="8763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57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Compare a decisão inicial e final. Identifique qual problema mais alterou o parecer do grupo.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1661802-FAEB-488C-9701-0E113DDF9B2E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A rejeição da implantação também pode ser uma conclusão financeiramente valiosa.</a:t>
            </a:r>
          </a:p>
        </p:txBody>
      </p:sp>
    </p:spTree>
    <p:extLst>
      <p:ext uri="{BB962C8B-B14F-4D97-AF65-F5344CB8AC3E}">
        <p14:creationId xmlns:p14="http://schemas.microsoft.com/office/powerpoint/2010/main" val="3837934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AB4030D-3D02-40C0-8A49-F091A27D36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813E0BC-614F-42D3-8D35-12FD3625ADF5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502FE5-0D47-4D4C-A4E8-727E4191FFE7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71450" cy="3886200"/>
          </a:xfrm>
          <a:prstGeom prst="rect">
            <a:avLst/>
          </a:prstGeom>
          <a:solidFill>
            <a:srgbClr val="2C95DD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9F394A-F3A4-4E79-A933-D98F631B5C81}"/>
              </a:ext>
            </a:extLst>
          </p:cNvPr>
          <p:cNvSpPr>
            <a:spLocks noGrp="1"/>
          </p:cNvSpPr>
          <p:nvPr/>
        </p:nvSpPr>
        <p:spPr>
          <a:xfrm>
            <a:off x="952500" y="112395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8927F3-FBF1-4D50-825C-E4720D0A3EEC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9810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3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Construção de um sinal de investimento com Machine Learning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9E1E5A-E634-4370-876A-CAB7201E6A91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93345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Seleção de modelo e limiar sem abrir o teste final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3E6DCA9-929A-48D1-A2D5-78E044898A9E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8096250" cy="876300"/>
          </a:xfrm>
          <a:prstGeom prst="roundRect">
            <a:avLst>
              <a:gd name="adj" fmla="val 869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D9EBC7C-2E49-4431-9B8B-74B8EFFAA0E5}"/>
              </a:ext>
            </a:extLst>
          </p:cNvPr>
          <p:cNvSpPr>
            <a:spLocks noGrp="1"/>
          </p:cNvSpPr>
          <p:nvPr/>
        </p:nvSpPr>
        <p:spPr>
          <a:xfrm>
            <a:off x="1181100" y="4400550"/>
            <a:ext cx="76390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Qual combinação transforma probabilidade em uma decisão econômica robusta?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1CDBCE-3423-4C7C-A190-13EDEC0392E3}"/>
              </a:ext>
            </a:extLst>
          </p:cNvPr>
          <p:cNvSpPr>
            <a:spLocks noGrp="1"/>
          </p:cNvSpPr>
          <p:nvPr/>
        </p:nvSpPr>
        <p:spPr>
          <a:xfrm>
            <a:off x="952500" y="58578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IA Aplicada à Gestão de Investimentos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9EB9C3A-C26D-4CB9-8690-E9D72EC27610}"/>
              </a:ext>
            </a:extLst>
          </p:cNvPr>
          <p:cNvSpPr>
            <a:spLocks noGrp="1"/>
          </p:cNvSpPr>
          <p:nvPr/>
        </p:nvSpPr>
        <p:spPr>
          <a:xfrm>
            <a:off x="9620250" y="5857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</p:spTree>
    <p:extLst>
      <p:ext uri="{BB962C8B-B14F-4D97-AF65-F5344CB8AC3E}">
        <p14:creationId xmlns:p14="http://schemas.microsoft.com/office/powerpoint/2010/main" val="1600225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9E3B42D8-5C6C-4AEF-820A-8309693C5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2409D134-0E44-4F39-B9AB-4251BBFD99EC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B010FE2C-D1B4-4119-9215-DBA99E0A9863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Objetivo e fronteira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F0C0BF43-3891-47EC-8301-1E6368A614C4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Um único ativo negociado: BOVA11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DAD85BB-2A9C-4E0B-A9AB-A37509C8552A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480D310-3980-4101-B706-0EF89F7C0CD7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F10DF26-B755-4F6C-A7B3-ADC0E0EA3F2F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5238750" cy="4333875"/>
          </a:xfrm>
          <a:prstGeom prst="roundRect">
            <a:avLst>
              <a:gd name="adj" fmla="val 175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702E16-0DCD-4983-BCB0-54BCFB08753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Aprendizagem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0010A39-32B9-46F3-9639-A0A5A68D2E74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501015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Comparar benchmark ingênuo, regressão logística e Random Forest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Avaliar discriminação e calibração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Escolher o limiar com critério econômico na validação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Abrir o teste final uma única vez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EBAC9FA-F3DE-45D8-8999-E5AF71F046FA}"/>
              </a:ext>
            </a:extLst>
          </p:cNvPr>
          <p:cNvSpPr>
            <a:spLocks noGrp="1"/>
          </p:cNvSpPr>
          <p:nvPr/>
        </p:nvSpPr>
        <p:spPr>
          <a:xfrm>
            <a:off x="5981700" y="1381125"/>
            <a:ext cx="5753100" cy="4333875"/>
          </a:xfrm>
          <a:prstGeom prst="roundRect">
            <a:avLst>
              <a:gd name="adj" fmla="val 1758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175757B-9F0E-445A-AB8C-BC035175459F}"/>
              </a:ext>
            </a:extLst>
          </p:cNvPr>
          <p:cNvSpPr>
            <a:spLocks noGrp="1"/>
          </p:cNvSpPr>
          <p:nvPr/>
        </p:nvSpPr>
        <p:spPr>
          <a:xfrm>
            <a:off x="6134100" y="1495425"/>
            <a:ext cx="544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do grupo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7833229-938A-4D47-BF06-4CA60D308078}"/>
              </a:ext>
            </a:extLst>
          </p:cNvPr>
          <p:cNvSpPr>
            <a:spLocks noGrp="1"/>
          </p:cNvSpPr>
          <p:nvPr/>
        </p:nvSpPr>
        <p:spPr>
          <a:xfrm>
            <a:off x="6134100" y="1857375"/>
            <a:ext cx="544830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e limiar congelados, resultado fora da amostra, comparação com benchmarks e decisão sobre implantação ou simulação.</a:t>
            </a:r>
          </a:p>
        </p:txBody>
      </p:sp>
    </p:spTree>
    <p:extLst>
      <p:ext uri="{BB962C8B-B14F-4D97-AF65-F5344CB8AC3E}">
        <p14:creationId xmlns:p14="http://schemas.microsoft.com/office/powerpoint/2010/main" val="2621531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EC784BA5-88CD-4D0D-88C2-BD874F9341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69149ED9-6F83-4224-B874-15F81344EF12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5AF6AF60-E049-407D-B918-1E19523DFD6D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Desenho temporal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D01E5D13-7094-4464-A478-0A108757CF97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Cada conjunto possui uma função diferente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D2A516-0027-49AE-BE37-BADC0D85C9EA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C2D81C0-01E4-491A-8A87-78279950A2A4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E938204-060C-4ED3-9A4C-10E753947A32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A8481F8-1DD0-48CA-A248-7947F173962E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4127E9-602A-4AB9-AF30-E9E1E36D83CB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D11880D-63C9-4177-AFD8-5499176E759D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Treinamento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35E1FA-9976-4CEE-9B30-F10D0915B816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2015 a 2019. Estima parâmetros, imputação e normalização.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1AFA01C-CD22-4729-AF73-212C7E3C9D5E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883E50A-94E2-43E9-8839-9BFC3E518390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531A49E-3888-46E3-822F-A9E6872A1AA7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3D4266A-4C50-44B2-8473-631036BB89E5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Validação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D2E007E-276A-4108-A608-EAB7074C98AA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2020 a 2022. Compara modelos e escolhe o limiar.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4EA8513-6ED1-44C9-99FD-A1AAA1497462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45A79F1-A1D9-4D6D-A4C0-51C894493E9D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4ACF5D5-F11E-4C08-8BE9-A7825A35C7A5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69B697C-43A1-402F-B334-50C1D42233FA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Congelamento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3CB21AE-846B-4B06-94EA-4EA2E91EED57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Registra modelo, limiar e expectativa antes do teste.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88971DB-74A2-4352-8B9A-A488BEC95BDD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476FDFE-AB50-416C-A5D1-CC314CE2FA71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B663C65-4282-413B-BEE5-DD6C6DB1949D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D0B8E9-8D6F-4B11-8892-B11793E93E4F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Teste final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D234559-9A0D-4159-97F3-CE2BB8CF4E72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2023 a 2025. Mede uma única vez a generalização econômica.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FF18D7F-1125-40A1-B84F-427EDE9D1301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627823C-6C73-43FD-AB94-54412CCCC786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teste não participa da escolha do algoritmo, do limiar ou do custo assumido.</a:t>
            </a:r>
          </a:p>
        </p:txBody>
      </p:sp>
    </p:spTree>
    <p:extLst>
      <p:ext uri="{BB962C8B-B14F-4D97-AF65-F5344CB8AC3E}">
        <p14:creationId xmlns:p14="http://schemas.microsoft.com/office/powerpoint/2010/main" val="827834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8D5E1A3C-FE84-456D-AFEF-B08C74C914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7607B39D-8E93-4AE8-8E34-F8EB877C8248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27CEEEE2-B1A5-4AC7-826B-7F1C5D4BEC45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Alvo executável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725F897A-6E68-4882-8227-DC0FBA18854E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decisão ocorre depois do fechamento de 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CEA7B50-9C8A-4C45-9733-084E2EF714DC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696C5E-0C91-48E7-BA5E-00D914EF4754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0DE6EA0-E5B2-4256-B932-C93E637DE43C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60F41F0-C0BF-4AA4-8204-71D8E396E27C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retorno_executavel &lt;-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lead(fechamento_bova) /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lead(abertura_bova) - 1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selic_executavel &lt;- lead(selic_dia)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supera_selic_executavel &lt;-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retorno_executavel &gt; selic_executavel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48A2030-EF92-4B6D-9D92-585EE87ECC98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C76CE62-0D40-47A8-A3EB-6384045839AF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Atributos permitidos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8370AFB-3703-4230-8072-27538611203B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Retornos passados de BOVA11, IVVB11, SMAL11 e dólar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Razão de médias móveis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Volatilidade e volume relativos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Amplitude intradiária conhecida em t</a:t>
            </a:r>
          </a:p>
        </p:txBody>
      </p:sp>
    </p:spTree>
    <p:extLst>
      <p:ext uri="{BB962C8B-B14F-4D97-AF65-F5344CB8AC3E}">
        <p14:creationId xmlns:p14="http://schemas.microsoft.com/office/powerpoint/2010/main" val="1731991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68421C2D-A15F-4820-ADCC-314B211FDD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86324A81-02D4-41D5-9DAB-2B45BA830F95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B290CA70-8DE1-4DC1-B46D-2CA942B092B7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Modelos concorrentes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69813CE3-73FE-49BC-86D8-9F7B35FE926B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Complexidade só acrescenta valor quando melhora a decisão fora da amostra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D5B1AF3-5AA3-454A-8592-371870B822D1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615DD1-26CF-41B0-9BF2-669166FBBF44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FC38F43-38AF-4B29-A514-E50CDC10A5FE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158DFD4-AFB8-4179-AE03-8BB2FC73FA2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Referências simples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471B0E9-C964-4C6B-82F3-9E751CF1D7E9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Probabilidade ingênua igual à frequência positiva no treino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Regressão logística como modelo linear e interpretável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Limiar inicial de 0,50 apenas para diagnóstico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4B7B850-3511-4674-B8A6-27264990A8E1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72ED346-929F-4949-B0CF-8D674565F8B1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53819DD-6351-4B87-8738-A41A7A48769C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500 árvores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mtry igual a 4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min_n igual a 15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Importância por permutação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Hiperparâmetros fixos para concentrar a aula na decisão econômica</a:t>
            </a:r>
          </a:p>
        </p:txBody>
      </p:sp>
    </p:spTree>
    <p:extLst>
      <p:ext uri="{BB962C8B-B14F-4D97-AF65-F5344CB8AC3E}">
        <p14:creationId xmlns:p14="http://schemas.microsoft.com/office/powerpoint/2010/main" val="2400909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aixa-superior">
            <a:extLst>
              <a:ext uri="{FF2B5EF4-FFF2-40B4-BE49-F238E27FC236}">
                <a16:creationId xmlns:a16="http://schemas.microsoft.com/office/drawing/2014/main" id="{8E04FDA4-44A7-45A3-9178-31BC844C38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BBC96CA0-9B26-4479-B37E-07D4674D2BE6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73C7EE0D-4D75-4010-9164-D93A0B779F0A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Métricas preditivas e calibração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4E1F34BA-2720-4521-83D6-58901167E955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validação mede aspectos diferentes da qualidade probabilística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2D37BA-3A81-4BCA-8175-E509337EA14A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5784196-D087-4C85-B7E4-B03541B220EE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688511E-0441-41C8-B1D2-46B5A778A74C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68D5A01-DAE6-4215-A22B-BBEA5CB8F1E7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Acerto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E00D99B-8140-4EF0-A585-62B9AAFC9A88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ACC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C9C5C0-FD29-49C8-B5E1-570525B1441C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Depende do limiar e pode ocultar desequilíbrio entre classes.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FC283F-2251-4EA7-B3EE-D94E8D56E7BD}"/>
              </a:ext>
            </a:extLst>
          </p:cNvPr>
          <p:cNvSpPr>
            <a:spLocks noGrp="1"/>
          </p:cNvSpPr>
          <p:nvPr/>
        </p:nvSpPr>
        <p:spPr>
          <a:xfrm>
            <a:off x="3319463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0134F2C-B9B3-45F1-A0C0-EABAA587CD66}"/>
              </a:ext>
            </a:extLst>
          </p:cNvPr>
          <p:cNvSpPr>
            <a:spLocks noGrp="1"/>
          </p:cNvSpPr>
          <p:nvPr/>
        </p:nvSpPr>
        <p:spPr>
          <a:xfrm>
            <a:off x="3452813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Ordenação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A3CC5A-7E6F-431C-874D-CAF34D583473}"/>
              </a:ext>
            </a:extLst>
          </p:cNvPr>
          <p:cNvSpPr>
            <a:spLocks noGrp="1"/>
          </p:cNvSpPr>
          <p:nvPr/>
        </p:nvSpPr>
        <p:spPr>
          <a:xfrm>
            <a:off x="3452813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C3DEFD5-775F-4398-9393-12FD49742126}"/>
              </a:ext>
            </a:extLst>
          </p:cNvPr>
          <p:cNvSpPr>
            <a:spLocks noGrp="1"/>
          </p:cNvSpPr>
          <p:nvPr/>
        </p:nvSpPr>
        <p:spPr>
          <a:xfrm>
            <a:off x="3509963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Compara a posição relativa dos casos positivos e negativos.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CA5FB4F-61AC-409E-B38C-CA3969E0DE82}"/>
              </a:ext>
            </a:extLst>
          </p:cNvPr>
          <p:cNvSpPr>
            <a:spLocks noGrp="1"/>
          </p:cNvSpPr>
          <p:nvPr/>
        </p:nvSpPr>
        <p:spPr>
          <a:xfrm>
            <a:off x="6181725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8EF2B37-C5EE-4D37-8BC4-EE71542EF265}"/>
              </a:ext>
            </a:extLst>
          </p:cNvPr>
          <p:cNvSpPr>
            <a:spLocks noGrp="1"/>
          </p:cNvSpPr>
          <p:nvPr/>
        </p:nvSpPr>
        <p:spPr>
          <a:xfrm>
            <a:off x="6315075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Probabilidade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D0A6ABF-C3D7-4AAC-B2B6-68FC117F19DC}"/>
              </a:ext>
            </a:extLst>
          </p:cNvPr>
          <p:cNvSpPr>
            <a:spLocks noGrp="1"/>
          </p:cNvSpPr>
          <p:nvPr/>
        </p:nvSpPr>
        <p:spPr>
          <a:xfrm>
            <a:off x="6315075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Log loss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2D9D866-5688-439D-BE7D-ECA82E691436}"/>
              </a:ext>
            </a:extLst>
          </p:cNvPr>
          <p:cNvSpPr>
            <a:spLocks noGrp="1"/>
          </p:cNvSpPr>
          <p:nvPr/>
        </p:nvSpPr>
        <p:spPr>
          <a:xfrm>
            <a:off x="6372225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Penaliza previsões confiantes quando estão erradas.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11A2940-E890-40BB-88AB-550D6C7763D6}"/>
              </a:ext>
            </a:extLst>
          </p:cNvPr>
          <p:cNvSpPr>
            <a:spLocks noGrp="1"/>
          </p:cNvSpPr>
          <p:nvPr/>
        </p:nvSpPr>
        <p:spPr>
          <a:xfrm>
            <a:off x="9043988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C323437-AF9B-4AFE-B376-EC0E0649293D}"/>
              </a:ext>
            </a:extLst>
          </p:cNvPr>
          <p:cNvSpPr>
            <a:spLocks noGrp="1"/>
          </p:cNvSpPr>
          <p:nvPr/>
        </p:nvSpPr>
        <p:spPr>
          <a:xfrm>
            <a:off x="9177338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Calibração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E27DF6D-B5A4-4D44-9373-BE02AD19D338}"/>
              </a:ext>
            </a:extLst>
          </p:cNvPr>
          <p:cNvSpPr>
            <a:spLocks noGrp="1"/>
          </p:cNvSpPr>
          <p:nvPr/>
        </p:nvSpPr>
        <p:spPr>
          <a:xfrm>
            <a:off x="9177338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 ≈ f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5618BB8-4492-414B-8387-5C22CACBE0FE}"/>
              </a:ext>
            </a:extLst>
          </p:cNvPr>
          <p:cNvSpPr>
            <a:spLocks noGrp="1"/>
          </p:cNvSpPr>
          <p:nvPr/>
        </p:nvSpPr>
        <p:spPr>
          <a:xfrm>
            <a:off x="9234488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 probabilidade média e frequência observada por faixa.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1F0411E-17D9-4A81-B8E7-AA1D7638632B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781050"/>
          </a:xfrm>
          <a:prstGeom prst="roundRect">
            <a:avLst>
              <a:gd name="adj" fmla="val 975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0AB87D7-E498-4A3A-9D95-FB0C6EA1B972}"/>
              </a:ext>
            </a:extLst>
          </p:cNvPr>
          <p:cNvSpPr>
            <a:spLocks noGrp="1"/>
          </p:cNvSpPr>
          <p:nvPr/>
        </p:nvSpPr>
        <p:spPr>
          <a:xfrm>
            <a:off x="1952625" y="5095875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48"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Um modelo pode ordenar bem as observações e produzir probabilidades inadequadas para escolher o limiar.</a:t>
            </a:r>
          </a:p>
        </p:txBody>
      </p:sp>
    </p:spTree>
    <p:extLst>
      <p:ext uri="{BB962C8B-B14F-4D97-AF65-F5344CB8AC3E}">
        <p14:creationId xmlns:p14="http://schemas.microsoft.com/office/powerpoint/2010/main" val="3356952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aixa-superior">
            <a:extLst>
              <a:ext uri="{FF2B5EF4-FFF2-40B4-BE49-F238E27FC236}">
                <a16:creationId xmlns:a16="http://schemas.microsoft.com/office/drawing/2014/main" id="{21D1E282-8C73-48E3-B2B5-4F04225417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5861D12A-3658-4BA7-BBF1-84D3F924F9F3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D1847A14-2355-411C-A5F6-D5484824317B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Da probabilidade ao retorno líquido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B0E4FD65-E99D-4732-9D02-C2E9ECA15101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sinal precisa de uma regra de decisão e de uma alternativa para o capital não exposto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10AD194-766A-4FC8-AB39-82F59ED3B8DB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3A5EE83-E6B9-4340-AD96-0A8673A3089B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65BBB50-51E9-4F11-AA33-DA4BE72CB8DE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607830A-2C94-4FD9-B171-94C098684629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DA6A94D-B722-4046-8CCF-98D19662BB01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4C6945B-DB91-4509-8735-7D0EE6A02CC2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Probabilidade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A252B68-1B83-4173-9FD8-447F6A3F57FF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modelo estima P(superar Selic) para o dia seguinte.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B417267-12C7-4EB9-8646-43E58151C7A4}"/>
              </a:ext>
            </a:extLst>
          </p:cNvPr>
          <p:cNvSpPr>
            <a:spLocks noGrp="1"/>
          </p:cNvSpPr>
          <p:nvPr/>
        </p:nvSpPr>
        <p:spPr>
          <a:xfrm>
            <a:off x="273939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D11D4C9-FC9F-475F-AD92-6F605DF76793}"/>
              </a:ext>
            </a:extLst>
          </p:cNvPr>
          <p:cNvSpPr>
            <a:spLocks noGrp="1"/>
          </p:cNvSpPr>
          <p:nvPr/>
        </p:nvSpPr>
        <p:spPr>
          <a:xfrm>
            <a:off x="287274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E7B6FFF-40BC-461B-B41F-3A0D23ADA424}"/>
              </a:ext>
            </a:extLst>
          </p:cNvPr>
          <p:cNvSpPr>
            <a:spLocks noGrp="1"/>
          </p:cNvSpPr>
          <p:nvPr/>
        </p:nvSpPr>
        <p:spPr>
          <a:xfrm>
            <a:off x="287274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7CEDDDF-17B1-4A52-8A3A-14B748641B15}"/>
              </a:ext>
            </a:extLst>
          </p:cNvPr>
          <p:cNvSpPr>
            <a:spLocks noGrp="1"/>
          </p:cNvSpPr>
          <p:nvPr/>
        </p:nvSpPr>
        <p:spPr>
          <a:xfrm>
            <a:off x="289179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Limiar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46852FD-58B9-4B63-B6D5-5E8C2624BCEF}"/>
              </a:ext>
            </a:extLst>
          </p:cNvPr>
          <p:cNvSpPr>
            <a:spLocks noGrp="1"/>
          </p:cNvSpPr>
          <p:nvPr/>
        </p:nvSpPr>
        <p:spPr>
          <a:xfrm>
            <a:off x="289179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posição vale 1 quando a probabilidade supera o corte.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6665960-40FF-4F5D-A447-3FF22F369847}"/>
              </a:ext>
            </a:extLst>
          </p:cNvPr>
          <p:cNvSpPr>
            <a:spLocks noGrp="1"/>
          </p:cNvSpPr>
          <p:nvPr/>
        </p:nvSpPr>
        <p:spPr>
          <a:xfrm>
            <a:off x="502158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E384237-58A5-43C8-8F64-BECB03E7AAA7}"/>
              </a:ext>
            </a:extLst>
          </p:cNvPr>
          <p:cNvSpPr>
            <a:spLocks noGrp="1"/>
          </p:cNvSpPr>
          <p:nvPr/>
        </p:nvSpPr>
        <p:spPr>
          <a:xfrm>
            <a:off x="515493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B68E7A8-56D4-45AD-A5CA-9CB9E8B3C056}"/>
              </a:ext>
            </a:extLst>
          </p:cNvPr>
          <p:cNvSpPr>
            <a:spLocks noGrp="1"/>
          </p:cNvSpPr>
          <p:nvPr/>
        </p:nvSpPr>
        <p:spPr>
          <a:xfrm>
            <a:off x="515493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13CCA54-B1B2-4E35-A753-CDC7CE5DF3A9}"/>
              </a:ext>
            </a:extLst>
          </p:cNvPr>
          <p:cNvSpPr>
            <a:spLocks noGrp="1"/>
          </p:cNvSpPr>
          <p:nvPr/>
        </p:nvSpPr>
        <p:spPr>
          <a:xfrm>
            <a:off x="517398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Alternativa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6F35111-06F6-43C8-A609-C05B563DE882}"/>
              </a:ext>
            </a:extLst>
          </p:cNvPr>
          <p:cNvSpPr>
            <a:spLocks noGrp="1"/>
          </p:cNvSpPr>
          <p:nvPr/>
        </p:nvSpPr>
        <p:spPr>
          <a:xfrm>
            <a:off x="517398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Quando o sinal vale 0, o capital rende Selic.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F00E6431-39B1-4AEB-B9B8-DC143C3572EB}"/>
              </a:ext>
            </a:extLst>
          </p:cNvPr>
          <p:cNvSpPr>
            <a:spLocks noGrp="1"/>
          </p:cNvSpPr>
          <p:nvPr/>
        </p:nvSpPr>
        <p:spPr>
          <a:xfrm>
            <a:off x="730377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584642B-5535-4C13-8027-676C83649C9D}"/>
              </a:ext>
            </a:extLst>
          </p:cNvPr>
          <p:cNvSpPr>
            <a:spLocks noGrp="1"/>
          </p:cNvSpPr>
          <p:nvPr/>
        </p:nvSpPr>
        <p:spPr>
          <a:xfrm>
            <a:off x="743712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EF8C63E-6779-4338-9FCD-606027822592}"/>
              </a:ext>
            </a:extLst>
          </p:cNvPr>
          <p:cNvSpPr>
            <a:spLocks noGrp="1"/>
          </p:cNvSpPr>
          <p:nvPr/>
        </p:nvSpPr>
        <p:spPr>
          <a:xfrm>
            <a:off x="743712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655177C-135A-4ECD-B434-4F75D55BCF0D}"/>
              </a:ext>
            </a:extLst>
          </p:cNvPr>
          <p:cNvSpPr>
            <a:spLocks noGrp="1"/>
          </p:cNvSpPr>
          <p:nvPr/>
        </p:nvSpPr>
        <p:spPr>
          <a:xfrm>
            <a:off x="745617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Custo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911254A-059F-458C-98A7-D7DB4E4E6D15}"/>
              </a:ext>
            </a:extLst>
          </p:cNvPr>
          <p:cNvSpPr>
            <a:spLocks noGrp="1"/>
          </p:cNvSpPr>
          <p:nvPr/>
        </p:nvSpPr>
        <p:spPr>
          <a:xfrm>
            <a:off x="745617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Cada mudança de posição desconta o custo em pontos-base.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35C58F6-7CC8-4C7E-B73E-ADB15BD74E54}"/>
              </a:ext>
            </a:extLst>
          </p:cNvPr>
          <p:cNvSpPr>
            <a:spLocks noGrp="1"/>
          </p:cNvSpPr>
          <p:nvPr/>
        </p:nvSpPr>
        <p:spPr>
          <a:xfrm>
            <a:off x="958596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65A9EACD-1701-43A9-83D2-21111B1ECD60}"/>
              </a:ext>
            </a:extLst>
          </p:cNvPr>
          <p:cNvSpPr>
            <a:spLocks noGrp="1"/>
          </p:cNvSpPr>
          <p:nvPr/>
        </p:nvSpPr>
        <p:spPr>
          <a:xfrm>
            <a:off x="971931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08AB075-98CE-4FE8-8965-B02CF704383E}"/>
              </a:ext>
            </a:extLst>
          </p:cNvPr>
          <p:cNvSpPr>
            <a:spLocks noGrp="1"/>
          </p:cNvSpPr>
          <p:nvPr/>
        </p:nvSpPr>
        <p:spPr>
          <a:xfrm>
            <a:off x="971931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A8156D8-6ABC-4865-B618-01644335E33F}"/>
              </a:ext>
            </a:extLst>
          </p:cNvPr>
          <p:cNvSpPr>
            <a:spLocks noGrp="1"/>
          </p:cNvSpPr>
          <p:nvPr/>
        </p:nvSpPr>
        <p:spPr>
          <a:xfrm>
            <a:off x="973836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Métrica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98B00D9-0EC9-450E-9E06-689FB2F879BF}"/>
              </a:ext>
            </a:extLst>
          </p:cNvPr>
          <p:cNvSpPr>
            <a:spLocks noGrp="1"/>
          </p:cNvSpPr>
          <p:nvPr/>
        </p:nvSpPr>
        <p:spPr>
          <a:xfrm>
            <a:off x="973836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Sharpe, retorno, volatilidade e drawdown resumem o caminho.</a:t>
            </a:r>
          </a:p>
        </p:txBody>
      </p:sp>
    </p:spTree>
    <p:extLst>
      <p:ext uri="{BB962C8B-B14F-4D97-AF65-F5344CB8AC3E}">
        <p14:creationId xmlns:p14="http://schemas.microsoft.com/office/powerpoint/2010/main" val="3841683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E457FA86-DDB7-4F3D-A137-700DE754A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D1CE605-DA23-4E20-AC8D-CE109744C755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AE75AD5E-0CF4-431B-91BD-D4E00A00FD1B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Seleção do limiar na validação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DF8F5693-21CD-4A1B-B580-ADB60F7F4969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grade percorre valores entre 0,45 e 0,70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6C6BAD-1181-4895-BA3F-D04C4C7B612D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EE65B1-4FD0-4BF1-919C-ACAF4CE18B55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5E99812-94AF-4660-A01A-9E4F9540EC9F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3C1908-B34D-4901-8AB6-7DBB7E248381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resultados_limiares &lt;- previsoes_validacao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filter(modelo != "Ingênuo")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group_by(modelo)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group_modify(~ map_dfr(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GRADE_LIMIARES,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\(limiar) avaliar_estrategia(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  .x, limiar, CUSTO_BPS_BASE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)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))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escolha &lt;- resultados_limiares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filter(operacoes &gt;= 20)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slice_max(sharpe, n = 1)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F615C27-C87F-4FF9-8D80-56A3CD13F251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C1997B6-82EB-4BE2-9390-F82853F2AE04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Regra de escolha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7A6207-A00B-4A80-9431-274A0E7B5593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Maior Sharpe na validação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Pelo menos 20 mudanças de posição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Custo-base de 10 bps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Nenhuma consulta ao teste final</a:t>
            </a:r>
          </a:p>
        </p:txBody>
      </p:sp>
    </p:spTree>
    <p:extLst>
      <p:ext uri="{BB962C8B-B14F-4D97-AF65-F5344CB8AC3E}">
        <p14:creationId xmlns:p14="http://schemas.microsoft.com/office/powerpoint/2010/main" val="1524071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37675624-6191-495F-94B9-79E932DE9E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DD9621D-AEC4-428D-A331-A73C45BA0C7F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705CAA95-4E64-4ABA-AF5A-2789F48E4C9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Refit e abertura do teste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ED168F33-692E-4989-9810-C19761F48C40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modelo escolhido usa treino e validação antes da avaliação final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67F366B-C69E-43AF-988A-189A27E33F4D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A596CB2-DE44-419D-AE3A-0AB6A5423B4B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EA03C6-ECEE-4766-9358-170D083BBD23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584B4EF-E89B-4F9F-AF72-D1BEEBEFC68F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C11FD6-D37A-4B8A-A729-E485A3ECCB7D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3C4B688-1E2B-4601-9CEC-07256AA865B6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Congelar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CC93E9F-507F-4299-8E39-D6B528D4AFF6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Registrar algoritmo, limiar e custos antes de observar o teste.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79743A3-5709-4000-AC01-665FA70D6BE2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6834811-796D-436B-A5DB-EA979CC3CE11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73197E2-E2DF-4100-89B4-8376F718681E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396642C-16F5-4021-8FFC-F099C782996F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Reestimar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3F045FA-8628-4299-8515-C8C2ACDA8547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Treinar o workflow em 2015 a 2022 com a mesma especificação.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B234C0B-B4A9-425B-B0B3-1926C1738FDA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404820C-7F48-45FF-B611-6932111E0C06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7B0B282-C923-438A-826A-11E0F2C4BF54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C5DA59F-F645-4CE6-8F6B-C25B2152B713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Prever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DB5E8AA-6B74-47AC-AD44-EC4CD36F6FCA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Gerar probabilidades para 2023 a 2025.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C96B8ED-5B00-435D-928A-578EDB8BBAA4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407B8B00-8C1D-46DD-88DB-55D7B811A5E9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A97D685-EFC0-4DE9-BEF7-2BB9D7BA3D8A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C0AC764-2994-4856-8424-FBE785EA9383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Avaliar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4609CC5-FA41-4C41-8DDB-DE82EBF76AD8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Aplicar o limiar congelado e calcular métricas líquidas.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1954059-3055-4E60-AC84-86473B7754D2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0D5EA29-247E-45D6-AB1D-C7CD47274E21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Uma segunda escolha após observar o teste transforma o teste em validação.</a:t>
            </a:r>
          </a:p>
        </p:txBody>
      </p:sp>
    </p:spTree>
    <p:extLst>
      <p:ext uri="{BB962C8B-B14F-4D97-AF65-F5344CB8AC3E}">
        <p14:creationId xmlns:p14="http://schemas.microsoft.com/office/powerpoint/2010/main" val="2159844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BD025E4E-8D2F-4D51-8256-77A1027C63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C26E7A5-D465-428E-BE9A-CE0DF9BBCD55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11A8C5D3-33B0-4F32-8DCD-FB3546C3E29C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Benchmarks econômicos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2829CA5C-14B1-42E4-AE60-7976D1067BB0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Todas as estratégias usam o mesmo período e o mesmo horizonte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A6EE46F-47E3-4DE2-BACB-83B89074D2AE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20F3424-271E-4E22-AAF4-5146E7FE06CA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0F94A9D-5286-4004-B6B2-8DF12B1CA5BB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210A54E-685D-4FD1-81A0-BE93B59243FE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Comparações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4033654-77F9-4A32-B265-0F5F8AE77B96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Estratégia de Machine Learning líquida de custos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Exposição permanente a BOVA11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Aplicação permanente em Selic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E299D7B-1796-421B-BF11-97E1C3EB11CB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EA0EC61-76D6-4406-9BBC-BA2A79A06833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Perguntas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9EA95FD-0F72-4907-8886-87F822975458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O sinal melhora o retorno ajustado ao risco?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 redução de exposição explica o resultado?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 estratégia supera a alternativa sem risco?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O resultado depende de poucos dias extremos?</a:t>
            </a:r>
          </a:p>
        </p:txBody>
      </p:sp>
    </p:spTree>
    <p:extLst>
      <p:ext uri="{BB962C8B-B14F-4D97-AF65-F5344CB8AC3E}">
        <p14:creationId xmlns:p14="http://schemas.microsoft.com/office/powerpoint/2010/main" val="885110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aixa-superior">
            <a:extLst>
              <a:ext uri="{FF2B5EF4-FFF2-40B4-BE49-F238E27FC236}">
                <a16:creationId xmlns:a16="http://schemas.microsoft.com/office/drawing/2014/main" id="{590B552E-5E88-4651-8D2D-715A873609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9F8695A-E7E2-4015-8D3D-739B01EAEC19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A7E5238F-C4D3-43B1-A6D7-1CAABCA9A993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Stress de custos e limiar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8E76D0C8-2FEB-4FDE-936C-7AB8C81290BC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robustez aparece como uma região, não como um único ponto ótimo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E0305A3-AAF7-439A-98EF-8B4B3BDB7204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5DF6251-9FBD-43D0-882B-11A6654CB18C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81D03FF-33D9-49CA-AA35-DCEC0067B8D4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58F900B-A881-4AFD-9380-0877F620F318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Sem custo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6515575-3CDF-45B6-A464-914A1331F1BF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0 bps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461CD7-F4C5-4EE2-B27C-52B0C0BD8E0C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Referência teórica para separar sinal e fricção.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1A90330-2164-43CD-8EAB-B1CE4F3FE044}"/>
              </a:ext>
            </a:extLst>
          </p:cNvPr>
          <p:cNvSpPr>
            <a:spLocks noGrp="1"/>
          </p:cNvSpPr>
          <p:nvPr/>
        </p:nvSpPr>
        <p:spPr>
          <a:xfrm>
            <a:off x="3319463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293163A-2C51-470A-88E0-86297F3FFA9A}"/>
              </a:ext>
            </a:extLst>
          </p:cNvPr>
          <p:cNvSpPr>
            <a:spLocks noGrp="1"/>
          </p:cNvSpPr>
          <p:nvPr/>
        </p:nvSpPr>
        <p:spPr>
          <a:xfrm>
            <a:off x="3452813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Cenário-base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C69062-7EEE-4AF4-94CD-7614523F9EF8}"/>
              </a:ext>
            </a:extLst>
          </p:cNvPr>
          <p:cNvSpPr>
            <a:spLocks noGrp="1"/>
          </p:cNvSpPr>
          <p:nvPr/>
        </p:nvSpPr>
        <p:spPr>
          <a:xfrm>
            <a:off x="3452813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 bps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238852-DAEC-4CA6-AF1D-9CC2F878FC40}"/>
              </a:ext>
            </a:extLst>
          </p:cNvPr>
          <p:cNvSpPr>
            <a:spLocks noGrp="1"/>
          </p:cNvSpPr>
          <p:nvPr/>
        </p:nvSpPr>
        <p:spPr>
          <a:xfrm>
            <a:off x="3509963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Premissa usada na seleção da validação.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F945D68-F41A-4358-973A-1FED752CB647}"/>
              </a:ext>
            </a:extLst>
          </p:cNvPr>
          <p:cNvSpPr>
            <a:spLocks noGrp="1"/>
          </p:cNvSpPr>
          <p:nvPr/>
        </p:nvSpPr>
        <p:spPr>
          <a:xfrm>
            <a:off x="6181725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39CDC13-24BD-4344-8264-72413CDF50C3}"/>
              </a:ext>
            </a:extLst>
          </p:cNvPr>
          <p:cNvSpPr>
            <a:spLocks noGrp="1"/>
          </p:cNvSpPr>
          <p:nvPr/>
        </p:nvSpPr>
        <p:spPr>
          <a:xfrm>
            <a:off x="6315075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Custo maior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12D753-7310-4FC5-9DD9-80CA5390AB48}"/>
              </a:ext>
            </a:extLst>
          </p:cNvPr>
          <p:cNvSpPr>
            <a:spLocks noGrp="1"/>
          </p:cNvSpPr>
          <p:nvPr/>
        </p:nvSpPr>
        <p:spPr>
          <a:xfrm>
            <a:off x="6315075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25 bps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B5485FD-3B22-4C3B-BEC8-D0F54683A4EF}"/>
              </a:ext>
            </a:extLst>
          </p:cNvPr>
          <p:cNvSpPr>
            <a:spLocks noGrp="1"/>
          </p:cNvSpPr>
          <p:nvPr/>
        </p:nvSpPr>
        <p:spPr>
          <a:xfrm>
            <a:off x="6372225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Testa sensibilidade a execução e liquidez.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F05EAA-7F31-4155-83FA-CEB698225901}"/>
              </a:ext>
            </a:extLst>
          </p:cNvPr>
          <p:cNvSpPr>
            <a:spLocks noGrp="1"/>
          </p:cNvSpPr>
          <p:nvPr/>
        </p:nvSpPr>
        <p:spPr>
          <a:xfrm>
            <a:off x="9043988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06D4F52-6307-43EB-A3FF-767E3C956020}"/>
              </a:ext>
            </a:extLst>
          </p:cNvPr>
          <p:cNvSpPr>
            <a:spLocks noGrp="1"/>
          </p:cNvSpPr>
          <p:nvPr/>
        </p:nvSpPr>
        <p:spPr>
          <a:xfrm>
            <a:off x="9177338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Cenário severo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E315591-B25E-4D2B-9838-E2F0E1C1E92E}"/>
              </a:ext>
            </a:extLst>
          </p:cNvPr>
          <p:cNvSpPr>
            <a:spLocks noGrp="1"/>
          </p:cNvSpPr>
          <p:nvPr/>
        </p:nvSpPr>
        <p:spPr>
          <a:xfrm>
            <a:off x="9177338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50 bps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2C504A2-E723-4F76-881E-5B03C7C2067D}"/>
              </a:ext>
            </a:extLst>
          </p:cNvPr>
          <p:cNvSpPr>
            <a:spLocks noGrp="1"/>
          </p:cNvSpPr>
          <p:nvPr/>
        </p:nvSpPr>
        <p:spPr>
          <a:xfrm>
            <a:off x="9234488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Mostra quando o turnover elimina o ganho.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ED9EB80-CA11-42A9-B533-6726C7D0EA39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781050"/>
          </a:xfrm>
          <a:prstGeom prst="roundRect">
            <a:avLst>
              <a:gd name="adj" fmla="val 975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7CF8B25-AC33-4F23-86C3-F480FC516A93}"/>
              </a:ext>
            </a:extLst>
          </p:cNvPr>
          <p:cNvSpPr>
            <a:spLocks noGrp="1"/>
          </p:cNvSpPr>
          <p:nvPr/>
        </p:nvSpPr>
        <p:spPr>
          <a:xfrm>
            <a:off x="1952625" y="5095875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48"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Uma estratégia mais confiável mantém resultados razoáveis em limiares próximos e custos plausíveis.</a:t>
            </a:r>
          </a:p>
        </p:txBody>
      </p:sp>
    </p:spTree>
    <p:extLst>
      <p:ext uri="{BB962C8B-B14F-4D97-AF65-F5344CB8AC3E}">
        <p14:creationId xmlns:p14="http://schemas.microsoft.com/office/powerpoint/2010/main" val="325768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B21EF161-97BE-48FD-A28F-B098C8902B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1E2FC767-CE4C-4AAF-B8B5-44BD6D617662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AC2D585D-6C64-4199-82E2-796F4FBD4848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Interpretação do modelo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6A085C36-7747-4398-A61A-AB7FDD837465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Importância estatística não equivale a mecanismo causal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4178AC-08EC-4C80-8086-6D8D80DE39AC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DAE3E3-1D7E-4105-8A90-B8BA3B40A34F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0AACAF1-1CE8-4B40-AB58-B17E42E7D94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E547455-314F-4FDA-B87E-C73C6146AAB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Regressão logística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9C81AC3-D5E5-4F70-AE9A-9148693735B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Sinal e magnitude dos coeficientes padronizados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Relação aproximadamente linear no logit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Sensibilidade a colinearidade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3A67393-64A8-4769-A1B6-1E06E0163FEE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66BF45B-F1E8-4E1C-A366-BF03A3CC54CF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3FD658E-CC67-4690-9F48-7CC47BA9BCBB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Importância por permutação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Capacidade de capturar interações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Importância diluída entre atributos correlacionados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Sem direção causal automática</a:t>
            </a:r>
          </a:p>
        </p:txBody>
      </p:sp>
    </p:spTree>
    <p:extLst>
      <p:ext uri="{BB962C8B-B14F-4D97-AF65-F5344CB8AC3E}">
        <p14:creationId xmlns:p14="http://schemas.microsoft.com/office/powerpoint/2010/main" val="1928610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aixa-superior">
            <a:extLst>
              <a:ext uri="{FF2B5EF4-FFF2-40B4-BE49-F238E27FC236}">
                <a16:creationId xmlns:a16="http://schemas.microsoft.com/office/drawing/2014/main" id="{4D728F86-AA55-42EB-8FDC-42BFADEDD1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06D3450F-35D9-43EE-9F7F-7ACE400FE92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DED4AFC8-B27D-4F1C-89A2-ED1B08D2480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Decisão sobre o sinal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9C7AF7C6-A936-4D7C-8E39-8FC632DA566E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recomendação deve reconhecer a incerteza fora da amostra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7A992F-AA6A-48EC-AFA7-FE767F3288B8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031AF6E-9A09-486A-ADA2-3E1AEAEFE58A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554D903-03C5-468C-B32B-27A9A5A3566F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10858500" cy="3714750"/>
          </a:xfrm>
          <a:prstGeom prst="roundRect">
            <a:avLst>
              <a:gd name="adj" fmla="val 2051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0B8F47F-3A64-4D75-BAEB-1CA9FE5A2BE1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Implantar, rejeitar ou manter em simulação?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6CB4EEC-9548-4A7D-8731-EA11EF995FBC}"/>
              </a:ext>
            </a:extLst>
          </p:cNvPr>
          <p:cNvSpPr>
            <a:spLocks noGrp="1"/>
          </p:cNvSpPr>
          <p:nvPr/>
        </p:nvSpPr>
        <p:spPr>
          <a:xfrm>
            <a:off x="1714500" y="3238500"/>
            <a:ext cx="8763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decisão deve usar desempenho no teste, estabilidade do limiar, sensibilidade aos custos, benchmark e interpretação das variáveis.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E8EAA9-DFFD-49EA-A746-D64D0FB79086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A probabilidade se torna estratégia somente depois de definir execução, alternativa e custo.</a:t>
            </a:r>
          </a:p>
        </p:txBody>
      </p:sp>
    </p:spTree>
    <p:extLst>
      <p:ext uri="{BB962C8B-B14F-4D97-AF65-F5344CB8AC3E}">
        <p14:creationId xmlns:p14="http://schemas.microsoft.com/office/powerpoint/2010/main" val="42268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4C8F134-E8E3-4F68-848D-66E37058FC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6A7569-C590-4CA8-B266-9703A8D1A2C3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19C94B5-3642-480A-ADAF-A19CD792FD2C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71450" cy="3886200"/>
          </a:xfrm>
          <a:prstGeom prst="rect">
            <a:avLst/>
          </a:prstGeom>
          <a:solidFill>
            <a:srgbClr val="2C95DD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CAD0A4C-8558-4C36-83DD-C18B04C0D3D7}"/>
              </a:ext>
            </a:extLst>
          </p:cNvPr>
          <p:cNvSpPr>
            <a:spLocks noGrp="1"/>
          </p:cNvSpPr>
          <p:nvPr/>
        </p:nvSpPr>
        <p:spPr>
          <a:xfrm>
            <a:off x="952500" y="112395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0689533-F816-4ED7-8B53-D12DDD5F8AE7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9810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3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Recomendação e construção de carteiras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F3BB9C0-1695-4BA4-824B-1F65BC3CAD1F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93345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Probabilidades, escores, restrições e perfis de risco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737A903-26CD-4686-B353-12967A8CC341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8096250" cy="876300"/>
          </a:xfrm>
          <a:prstGeom prst="roundRect">
            <a:avLst>
              <a:gd name="adj" fmla="val 869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FB48C2-A71D-456A-A364-478C65BF668C}"/>
              </a:ext>
            </a:extLst>
          </p:cNvPr>
          <p:cNvSpPr>
            <a:spLocks noGrp="1"/>
          </p:cNvSpPr>
          <p:nvPr/>
        </p:nvSpPr>
        <p:spPr>
          <a:xfrm>
            <a:off x="1181100" y="4400550"/>
            <a:ext cx="76390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Como transformar sinais para vários ativos em uma alocação defensável?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ED114C6-B327-4AD6-B42C-60542ACB5521}"/>
              </a:ext>
            </a:extLst>
          </p:cNvPr>
          <p:cNvSpPr>
            <a:spLocks noGrp="1"/>
          </p:cNvSpPr>
          <p:nvPr/>
        </p:nvSpPr>
        <p:spPr>
          <a:xfrm>
            <a:off x="952500" y="58578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IA Aplicada à Gestão de Investimentos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374DF53-7AFE-4EB9-B883-810F7DBAA4AA}"/>
              </a:ext>
            </a:extLst>
          </p:cNvPr>
          <p:cNvSpPr>
            <a:spLocks noGrp="1"/>
          </p:cNvSpPr>
          <p:nvPr/>
        </p:nvSpPr>
        <p:spPr>
          <a:xfrm>
            <a:off x="9620250" y="5857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</p:spTree>
    <p:extLst>
      <p:ext uri="{BB962C8B-B14F-4D97-AF65-F5344CB8AC3E}">
        <p14:creationId xmlns:p14="http://schemas.microsoft.com/office/powerpoint/2010/main" val="357008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9F4BCEF3-A326-43DF-9576-3AF0240742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417D4E2C-CE63-4959-8A59-788BA6E2057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3D8A4A24-0B9C-4BBA-BD77-FEB182AE1C9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Objetivo e universo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E4BFC1C0-DD1E-4ACA-986F-E20CFF195C79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BOVA11, IVVB11 e SMAL11 como ativos de risco; Selic como caixa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0ADE071-90EA-4F07-9078-E92F681E3571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F3832F6-3A49-4FDA-BC53-01186342E5EA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9D40340-194F-480D-B59F-A7111A633597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5238750" cy="4333875"/>
          </a:xfrm>
          <a:prstGeom prst="roundRect">
            <a:avLst>
              <a:gd name="adj" fmla="val 175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26D59F-F3CA-4BC8-8BB2-6EF5C2400459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Aprendizagem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4EE897-76F0-4A8D-9D47-0FD88125450F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501015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Produzir probabilidades em uma base longa por data e ativo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Converter previsão em escore retorno-risco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Aplicar limites por perfil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Incluir caixa, custos e benchmarks de alocação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EFF2AE0-BECA-449E-A6AF-FFE0CD98ED09}"/>
              </a:ext>
            </a:extLst>
          </p:cNvPr>
          <p:cNvSpPr>
            <a:spLocks noGrp="1"/>
          </p:cNvSpPr>
          <p:nvPr/>
        </p:nvSpPr>
        <p:spPr>
          <a:xfrm>
            <a:off x="5981700" y="1381125"/>
            <a:ext cx="5753100" cy="4333875"/>
          </a:xfrm>
          <a:prstGeom prst="roundRect">
            <a:avLst>
              <a:gd name="adj" fmla="val 1758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BE90F3-D179-4D1A-9F44-B4E5DBD9118B}"/>
              </a:ext>
            </a:extLst>
          </p:cNvPr>
          <p:cNvSpPr>
            <a:spLocks noGrp="1"/>
          </p:cNvSpPr>
          <p:nvPr/>
        </p:nvSpPr>
        <p:spPr>
          <a:xfrm>
            <a:off x="6134100" y="1495425"/>
            <a:ext cx="544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do grupo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A1B581C-1967-4404-B3A1-3683C53B2C7D}"/>
              </a:ext>
            </a:extLst>
          </p:cNvPr>
          <p:cNvSpPr>
            <a:spLocks noGrp="1"/>
          </p:cNvSpPr>
          <p:nvPr/>
        </p:nvSpPr>
        <p:spPr>
          <a:xfrm>
            <a:off x="6134100" y="1857375"/>
            <a:ext cx="544830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recomendação por perfil, acompanhada de pesos, justificativa, comparação com regras simples e avaliação de sensibilidade aos custos.</a:t>
            </a:r>
          </a:p>
        </p:txBody>
      </p:sp>
    </p:spTree>
    <p:extLst>
      <p:ext uri="{BB962C8B-B14F-4D97-AF65-F5344CB8AC3E}">
        <p14:creationId xmlns:p14="http://schemas.microsoft.com/office/powerpoint/2010/main" val="1855340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91192710-27C6-412D-A06C-5AE2BD2FD1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E6604ACB-9F8F-43D4-BA6C-AB69F47424EC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98E86379-10EB-483E-B6BF-26F45905D721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Base longa e relógio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1A953055-5831-4DC7-9C94-FBF3AAA19984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Cada data contém até três decisões simultâneas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39A5D66-73FC-4262-BCEE-35C41EA9F1E8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6847FD4-AEFF-445B-8738-137E9C27037D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A42BEDE-05D9-4BDF-B4B5-38B203CBC62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CFFF700-B58F-4AD7-A70F-7BF427BDF11B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6CDA24C-088D-4E79-A5D2-7B141F36B737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BF5E5BC-F7CB-4D2E-A3E6-0D223E4E812F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Cotações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718527E-DCC9-4BB0-A588-9B4100775B39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Abertura, máxima, mínima, fechamento, negócios e volume por ETF.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C32DDE4-92E1-490B-AA9A-912D6F48C02F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CB1DF9C-D2B5-4157-B739-D7BCFFDA996A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4FE47A-70BC-4C1F-B285-63DE913E98FD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781103A-33EF-4366-8D35-269C2FE2CC60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Atributos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6C49E87-2C60-4568-8465-403E01C24859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Retornos passados, médias, volatilidade, volume relativo e amplitude.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312C85-8158-463A-94BD-126FCA5D29C2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9885F2F-7893-4996-B2A9-3D78A5303997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04858BC-7523-4166-B417-0F9111E0A15E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5FA5D0B-F393-4BF6-A410-3F36CEB03C15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Alvo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FEEAC4E-F6F8-4479-9D71-26171CF8CB55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Retorno da abertura ao fechamento de t+1 comparado à Selic.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0687930-B7B1-403A-A055-F97D0015F11E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6906833-147F-4216-B391-B27DC85EA89C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CCEAD41-DDE9-4E22-A391-4B41F80D6A71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5729679-8A47-4BE0-BA48-375469A29BCC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Registro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2425E80-D062-4F21-8284-6845066FA643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Uma linha por data e ativo preserva o painel de decisões.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CD1E3DB-2512-4A17-A534-693418059E1A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6CFCD10-D3EB-435E-831E-F39EC5729799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unidade de observação agora combina tempo e ativo.</a:t>
            </a:r>
          </a:p>
        </p:txBody>
      </p:sp>
    </p:spTree>
    <p:extLst>
      <p:ext uri="{BB962C8B-B14F-4D97-AF65-F5344CB8AC3E}">
        <p14:creationId xmlns:p14="http://schemas.microsoft.com/office/powerpoint/2010/main" val="3007820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93FA48BA-5398-4C5E-ADF9-DF1CB1916C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696D2E55-AE2D-44F1-8028-D8A22C54E70C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1F54905A-5E74-41D1-8029-D0EDCD65999B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Modelo agrupado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DFCA6B1F-BE3A-4E5C-90CB-E29B21C2DCE0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Um único modelo compartilha informação entre os ETFs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6353C91-5860-4832-9FFE-F39B0774D681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A0A2D1D-BDC4-49E8-8F50-80D6D0EF53C7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C7AFEFD-97F6-4539-8CBB-82BFD413C189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BC7F85-6EE3-4D91-BAC7-C180F3B0AFBB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receita &lt;- recipe(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supera_selic ~ .,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data = treino_validacao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update_role(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data, amostra, retorno_executavel,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selic_executavel, new_role = "id"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step_dummy(all_nominal_predictors())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step_impute_median(all_numeric_predictors())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step_normalize(all_numeric_predictors())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1EA49C8-F8B8-48B5-921E-D8FB6A845A21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F3177C2-2BBC-4CDD-81DF-8463746CB61E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Estrutura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28C58F4-7BD3-43AB-809C-BA14925AF1D8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ativo entra como variável categórica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modelo logístico mantém o exercício transparente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treino e validação alimentam o ajuste final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teste final gera probabilidades fora da amostra</a:t>
            </a:r>
          </a:p>
        </p:txBody>
      </p:sp>
    </p:spTree>
    <p:extLst>
      <p:ext uri="{BB962C8B-B14F-4D97-AF65-F5344CB8AC3E}">
        <p14:creationId xmlns:p14="http://schemas.microsoft.com/office/powerpoint/2010/main" val="3471498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aixa-superior">
            <a:extLst>
              <a:ext uri="{FF2B5EF4-FFF2-40B4-BE49-F238E27FC236}">
                <a16:creationId xmlns:a16="http://schemas.microsoft.com/office/drawing/2014/main" id="{094CF7A1-DDCA-4B64-9E09-96B72B22AC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B6B580D6-2DB7-4EC0-895D-EFEF81A450AE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EC629015-1021-4125-9FA8-E83F7DD3B7F4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Da probabilidade ao escore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165C3406-6A0A-4946-99A6-8375E32B0D8C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escore combina convicção e volatilidade recente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20CB748-F0B8-456F-B8D3-BDF8BEF6F1B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B3AE166-01A5-4B86-83F7-28B85878C1EA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CBF79E9-2CBB-475D-ABDA-56C472F22C46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6299257-7C4E-4343-BA2A-83D76B6336A5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Probabilidade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E19C840-1B50-446A-BAEE-BB0BBA0F0893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D352107-DE79-4B69-8B97-6C0DA62377E0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Estimativa de superar a Selic no próximo dia.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A967B9D-A2BE-4FB7-A866-226612D24F0D}"/>
              </a:ext>
            </a:extLst>
          </p:cNvPr>
          <p:cNvSpPr>
            <a:spLocks noGrp="1"/>
          </p:cNvSpPr>
          <p:nvPr/>
        </p:nvSpPr>
        <p:spPr>
          <a:xfrm>
            <a:off x="3319463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3D94562-38EA-4EA6-B09F-31D47CFB4255}"/>
              </a:ext>
            </a:extLst>
          </p:cNvPr>
          <p:cNvSpPr>
            <a:spLocks noGrp="1"/>
          </p:cNvSpPr>
          <p:nvPr/>
        </p:nvSpPr>
        <p:spPr>
          <a:xfrm>
            <a:off x="3452813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Sinal centrado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BE20BB0-054E-4414-B710-5823E24EC1EF}"/>
              </a:ext>
            </a:extLst>
          </p:cNvPr>
          <p:cNvSpPr>
            <a:spLocks noGrp="1"/>
          </p:cNvSpPr>
          <p:nvPr/>
        </p:nvSpPr>
        <p:spPr>
          <a:xfrm>
            <a:off x="3452813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2p - 1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F2D4D40-32E6-446E-8846-5CBBA55EAC81}"/>
              </a:ext>
            </a:extLst>
          </p:cNvPr>
          <p:cNvSpPr>
            <a:spLocks noGrp="1"/>
          </p:cNvSpPr>
          <p:nvPr/>
        </p:nvSpPr>
        <p:spPr>
          <a:xfrm>
            <a:off x="3509963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Converte 0,50 em ponto neutro.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F1F23C7-1264-4CE1-B7F9-600871132039}"/>
              </a:ext>
            </a:extLst>
          </p:cNvPr>
          <p:cNvSpPr>
            <a:spLocks noGrp="1"/>
          </p:cNvSpPr>
          <p:nvPr/>
        </p:nvSpPr>
        <p:spPr>
          <a:xfrm>
            <a:off x="6181725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41AFDCB-3DE2-4469-B0DA-DD31F7C99C46}"/>
              </a:ext>
            </a:extLst>
          </p:cNvPr>
          <p:cNvSpPr>
            <a:spLocks noGrp="1"/>
          </p:cNvSpPr>
          <p:nvPr/>
        </p:nvSpPr>
        <p:spPr>
          <a:xfrm>
            <a:off x="6315075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Convicção positiva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3440F49-05C4-409A-A25E-890E9EB8B886}"/>
              </a:ext>
            </a:extLst>
          </p:cNvPr>
          <p:cNvSpPr>
            <a:spLocks noGrp="1"/>
          </p:cNvSpPr>
          <p:nvPr/>
        </p:nvSpPr>
        <p:spPr>
          <a:xfrm>
            <a:off x="6315075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max(s, 0)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FFE5427-569F-4748-A53D-F1A2DC3D45AE}"/>
              </a:ext>
            </a:extLst>
          </p:cNvPr>
          <p:cNvSpPr>
            <a:spLocks noGrp="1"/>
          </p:cNvSpPr>
          <p:nvPr/>
        </p:nvSpPr>
        <p:spPr>
          <a:xfrm>
            <a:off x="6372225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Descarta sinais abaixo do ponto neutro.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71476C4-34DC-460B-A43D-633148FDA739}"/>
              </a:ext>
            </a:extLst>
          </p:cNvPr>
          <p:cNvSpPr>
            <a:spLocks noGrp="1"/>
          </p:cNvSpPr>
          <p:nvPr/>
        </p:nvSpPr>
        <p:spPr>
          <a:xfrm>
            <a:off x="9043988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2C67535-C1BD-489B-9D1B-06D54D8DBC4E}"/>
              </a:ext>
            </a:extLst>
          </p:cNvPr>
          <p:cNvSpPr>
            <a:spLocks noGrp="1"/>
          </p:cNvSpPr>
          <p:nvPr/>
        </p:nvSpPr>
        <p:spPr>
          <a:xfrm>
            <a:off x="9177338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Escore final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30D0822-15C6-4F59-8AE0-E92A9EBF558C}"/>
              </a:ext>
            </a:extLst>
          </p:cNvPr>
          <p:cNvSpPr>
            <a:spLocks noGrp="1"/>
          </p:cNvSpPr>
          <p:nvPr/>
        </p:nvSpPr>
        <p:spPr>
          <a:xfrm>
            <a:off x="9177338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s⁺ / σ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9215842-9690-4DF0-8B8A-345FF46014A0}"/>
              </a:ext>
            </a:extLst>
          </p:cNvPr>
          <p:cNvSpPr>
            <a:spLocks noGrp="1"/>
          </p:cNvSpPr>
          <p:nvPr/>
        </p:nvSpPr>
        <p:spPr>
          <a:xfrm>
            <a:off x="9234488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Favorece maior convicção e menor volatilidade.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6149C30-1274-45DB-B3D7-BE242F251A77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781050"/>
          </a:xfrm>
          <a:prstGeom prst="roundRect">
            <a:avLst>
              <a:gd name="adj" fmla="val 975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8F505BB-BD06-4A00-9B04-BCC23529CEA7}"/>
              </a:ext>
            </a:extLst>
          </p:cNvPr>
          <p:cNvSpPr>
            <a:spLocks noGrp="1"/>
          </p:cNvSpPr>
          <p:nvPr/>
        </p:nvSpPr>
        <p:spPr>
          <a:xfrm>
            <a:off x="1952625" y="5095875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escore organiza os ativos. As restrições do perfil determinam os pesos finais.</a:t>
            </a:r>
          </a:p>
        </p:txBody>
      </p:sp>
    </p:spTree>
    <p:extLst>
      <p:ext uri="{BB962C8B-B14F-4D97-AF65-F5344CB8AC3E}">
        <p14:creationId xmlns:p14="http://schemas.microsoft.com/office/powerpoint/2010/main" val="3917337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aixa-superior">
            <a:extLst>
              <a:ext uri="{FF2B5EF4-FFF2-40B4-BE49-F238E27FC236}">
                <a16:creationId xmlns:a16="http://schemas.microsoft.com/office/drawing/2014/main" id="{69D891C6-0EDA-4675-B2E4-55E70D07F1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470A8408-1AB8-460A-B66B-8120FF3069AA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A045E8C0-5DE4-49DD-9797-E62863D069C2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Perfis de risco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088E1E1E-ECAD-47F0-B6A0-43373406AC56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parcela não alocada nos ETFs permanece em caixa remunerado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27AC16A-77CC-4400-84B0-F791ED39A3A8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58F21E-D384-43C1-82DF-3E98D0069BA8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0F2BBB-96F5-4550-8BB0-EC354FBF22F5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3644900" cy="3143250"/>
          </a:xfrm>
          <a:prstGeom prst="roundRect">
            <a:avLst>
              <a:gd name="adj" fmla="val 2424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6CBED0-F42A-4621-8B8D-411518915AFE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33782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Conservador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DE1E682-B13A-42C9-900B-7E7BD876B6A6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33782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A73E175-FACC-4306-95E5-ED5DFC9AFE55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32639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Alocação máxima em risco. Limite de 15% por ETF.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042B169-878A-45D4-8E37-649E09BE9B78}"/>
              </a:ext>
            </a:extLst>
          </p:cNvPr>
          <p:cNvSpPr>
            <a:spLocks noGrp="1"/>
          </p:cNvSpPr>
          <p:nvPr/>
        </p:nvSpPr>
        <p:spPr>
          <a:xfrm>
            <a:off x="4273550" y="1476375"/>
            <a:ext cx="3644900" cy="3143250"/>
          </a:xfrm>
          <a:prstGeom prst="roundRect">
            <a:avLst>
              <a:gd name="adj" fmla="val 2424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4FC411F-EC80-4B57-82C5-1D8C742E2994}"/>
              </a:ext>
            </a:extLst>
          </p:cNvPr>
          <p:cNvSpPr>
            <a:spLocks noGrp="1"/>
          </p:cNvSpPr>
          <p:nvPr/>
        </p:nvSpPr>
        <p:spPr>
          <a:xfrm>
            <a:off x="4406900" y="1666875"/>
            <a:ext cx="33782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866B3D6-0A58-4268-922F-02206354CBA0}"/>
              </a:ext>
            </a:extLst>
          </p:cNvPr>
          <p:cNvSpPr>
            <a:spLocks noGrp="1"/>
          </p:cNvSpPr>
          <p:nvPr/>
        </p:nvSpPr>
        <p:spPr>
          <a:xfrm>
            <a:off x="4406900" y="2333625"/>
            <a:ext cx="33782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82341D8-C79F-429C-AC03-1C4B9182754A}"/>
              </a:ext>
            </a:extLst>
          </p:cNvPr>
          <p:cNvSpPr>
            <a:spLocks noGrp="1"/>
          </p:cNvSpPr>
          <p:nvPr/>
        </p:nvSpPr>
        <p:spPr>
          <a:xfrm>
            <a:off x="4464050" y="3333750"/>
            <a:ext cx="32639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Alocação máxima em risco. Limite de 30% por ETF.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58B268E-089B-484D-A9B2-E9498A64FC73}"/>
              </a:ext>
            </a:extLst>
          </p:cNvPr>
          <p:cNvSpPr>
            <a:spLocks noGrp="1"/>
          </p:cNvSpPr>
          <p:nvPr/>
        </p:nvSpPr>
        <p:spPr>
          <a:xfrm>
            <a:off x="8089900" y="1476375"/>
            <a:ext cx="3644900" cy="3143250"/>
          </a:xfrm>
          <a:prstGeom prst="roundRect">
            <a:avLst>
              <a:gd name="adj" fmla="val 2424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FC5CD85-2766-4F86-A02A-49794A0C3C44}"/>
              </a:ext>
            </a:extLst>
          </p:cNvPr>
          <p:cNvSpPr>
            <a:spLocks noGrp="1"/>
          </p:cNvSpPr>
          <p:nvPr/>
        </p:nvSpPr>
        <p:spPr>
          <a:xfrm>
            <a:off x="8223250" y="1666875"/>
            <a:ext cx="33782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Arrojado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791A1F9-344A-43C2-BC75-134F67C76D0D}"/>
              </a:ext>
            </a:extLst>
          </p:cNvPr>
          <p:cNvSpPr>
            <a:spLocks noGrp="1"/>
          </p:cNvSpPr>
          <p:nvPr/>
        </p:nvSpPr>
        <p:spPr>
          <a:xfrm>
            <a:off x="8223250" y="2333625"/>
            <a:ext cx="33782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AD44F36-A891-46AE-B05E-578C0CB8C03E}"/>
              </a:ext>
            </a:extLst>
          </p:cNvPr>
          <p:cNvSpPr>
            <a:spLocks noGrp="1"/>
          </p:cNvSpPr>
          <p:nvPr/>
        </p:nvSpPr>
        <p:spPr>
          <a:xfrm>
            <a:off x="8280400" y="3333750"/>
            <a:ext cx="32639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Alocação máxima em risco. Limite de 50% por ETF.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C409363-05B1-4F6D-AA84-7D80722BACD6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781050"/>
          </a:xfrm>
          <a:prstGeom prst="roundRect">
            <a:avLst>
              <a:gd name="adj" fmla="val 975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129A492-7E1B-4CCF-B5F1-C4268A124C37}"/>
              </a:ext>
            </a:extLst>
          </p:cNvPr>
          <p:cNvSpPr>
            <a:spLocks noGrp="1"/>
          </p:cNvSpPr>
          <p:nvPr/>
        </p:nvSpPr>
        <p:spPr>
          <a:xfrm>
            <a:off x="1952625" y="5095875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48"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Os limites transformam o mesmo conjunto de sinais em recomendações compatíveis com mandatos diferentes.</a:t>
            </a:r>
          </a:p>
        </p:txBody>
      </p:sp>
    </p:spTree>
    <p:extLst>
      <p:ext uri="{BB962C8B-B14F-4D97-AF65-F5344CB8AC3E}">
        <p14:creationId xmlns:p14="http://schemas.microsoft.com/office/powerpoint/2010/main" val="1278922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53F28423-D155-4CAA-8258-E9897B0FEC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5CF1DAAA-197F-48AA-8D2E-7F190C1AD2CF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45A5F72A-08EB-48CE-8E1A-1FDF116ECCF4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Construção dos pesos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3E871086-8D8F-4E45-9604-5E6E00E0080A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regra mantém a soma dos pesos igual a 1 em cada data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FFC30DA-638D-4880-A041-3C32F884AE63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7BD3CC3-6339-4F41-88E1-677AB6A7412A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7227DA8-6FFE-4A53-9BB1-439976F60547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C09B0BF-9D50-4231-9C14-F323559F60CF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8C9A1F3-E3B2-4AE7-8FC6-664DA742D15A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BBC4A3-0A2E-4B46-A1B0-B2926B8A92F7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Normalizar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77A18CD-74C9-4578-A23C-8483DDB00D80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Dividir cada escore positivo pela soma dos escores da data.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8C5E5DF-6003-4416-8D2F-437BF3F16C95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FC930C5-88B4-43A2-ADAE-6C16E6A9FB72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B4EF559-D2E1-445C-B2AB-88BE6D7882CA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C5001F7-9E0F-483F-8229-C7E3E3479922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Escalar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C1101CF-5C31-4D8C-A418-986597E7756B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Multiplicar pela alocação máxima de risco do perfil.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180B3E0-119A-4F97-954B-CE33BBE65CA6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95AFE39-4D45-4675-93B4-EC23349B0D0E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E830D62-2E6C-4F30-A289-92554A67EFC7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2DEB6D3-AD26-4A6D-96D8-5F914135D674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Limitar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BD48D82-09A3-401E-8E9C-7583BFF5E4D9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Aplicar o peso máximo permitido para cada ETF.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F989D45-AE82-4F06-BF3D-25AFAD466869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0D61950-DC9E-440A-A3B5-9868EC151260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232FAAD-3292-4704-A3C6-F0E7F3D5BB1B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4A0D05D-CD27-4239-B74F-CD805A00820D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Completar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450A9F9-A6B8-45C8-AF5F-FB4BE9557DC6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Enviar o saldo restante para CAIXA_SELIC.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B3B58A3-C2FA-47D8-87BA-4E520FB5681C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CD235B5-8962-4496-8ED5-B6DFFBF96876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Controle automático: soma dos pesos igual a 1 com tolerância numérica.</a:t>
            </a:r>
          </a:p>
        </p:txBody>
      </p:sp>
    </p:spTree>
    <p:extLst>
      <p:ext uri="{BB962C8B-B14F-4D97-AF65-F5344CB8AC3E}">
        <p14:creationId xmlns:p14="http://schemas.microsoft.com/office/powerpoint/2010/main" val="3903139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714F0CBE-68D6-4909-8E85-967C70A039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9BC962ED-56F3-4147-9136-E4C1239C0247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B25A5822-5E3E-4BE2-A76B-2A4E17E6A231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Retorno líquido e turnover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CFCED1AB-EC46-4BE1-A17E-1959F737A8BA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custo depende da mudança absoluta de peso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7FA86A9-2F75-40C3-9EA0-0D8B7B6077FE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E712F01-B9C9-418F-9435-A11AF4248376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B187E55-B58E-4395-976F-1390AD28A14F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760B459-1460-4866-9204-94C0EE605FFD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mudanca_peso &lt;- abs(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peso - lag(peso, default = 0)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 &lt;- if_else(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ativo == "CAIXA_SELIC",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0,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mudanca_peso * CUSTO_BPS / 10000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contribuicao &lt;-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peso * retorno_ativo - custo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FA68A5F-7A22-4264-8A66-834B890F91FB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DEA56A8-B12C-4E54-9AA2-27D52A00E512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Pontos de atenção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3564141-CFC5-4CAD-9519-7E63BDE650B9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Custos incidem por ativo de risco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Turnover elevado pode dominar o retorno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O caixa não paga custo no exercício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Rebalanceamento ocorre diariamente</a:t>
            </a:r>
          </a:p>
        </p:txBody>
      </p:sp>
    </p:spTree>
    <p:extLst>
      <p:ext uri="{BB962C8B-B14F-4D97-AF65-F5344CB8AC3E}">
        <p14:creationId xmlns:p14="http://schemas.microsoft.com/office/powerpoint/2010/main" val="1240420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31771F74-2781-4757-BD93-FDB2A8B02E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20B11428-2A4F-4629-AD03-C2DE80BD8059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FE970738-A1CD-4624-941F-72657294D001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Benchmarks de alocação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D514F93A-7F21-4243-88C7-7C53FAD83F6E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Regras simples ajudam a medir o valor adicional da recomendação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02C02D-F684-43FA-A956-A218762155E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01BA60-64A5-45AE-A2CC-180DA3CD6381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C007635-1F23-4653-98DC-646607C41EDF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CDF6FEF-21DF-49F1-9D51-E1F74AF4BD18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Igual ponderação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92D3A4A-AE22-4C12-9547-FD73DA00C46C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Um terço em cada ETF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Não usa previsão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Transparente e fácil de reproduzir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Pode concentrar risco no ativo mais volátil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2BF2F05-2819-457A-A64D-F34E0E7C0994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7391D64-0AA5-4EEA-A416-ABEC75CF6BD5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Inverso da volatilidade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5CA9E98-B255-4BBF-A6B4-06DD8CEC8CED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Peso proporcional a 1 / volatilidade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Reduz participação de ativos mais instáveis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Não usa retorno esperado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Pode reagir lentamente a mudanças de regime</a:t>
            </a:r>
          </a:p>
        </p:txBody>
      </p:sp>
    </p:spTree>
    <p:extLst>
      <p:ext uri="{BB962C8B-B14F-4D97-AF65-F5344CB8AC3E}">
        <p14:creationId xmlns:p14="http://schemas.microsoft.com/office/powerpoint/2010/main" val="3669149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aixa-superior">
            <a:extLst>
              <a:ext uri="{FF2B5EF4-FFF2-40B4-BE49-F238E27FC236}">
                <a16:creationId xmlns:a16="http://schemas.microsoft.com/office/drawing/2014/main" id="{585D9EA7-6C9C-4E2F-88E6-02CF3C5D88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678048E8-8EB5-419F-9135-21BF2792E26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333F2B1C-5CCB-47C2-8DAC-D6910E67A6DA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Avaliação das carteiras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9C077F6E-2BFA-48A7-A8FD-CFA084526A7D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Desempenho e risco precisam aparecer lado a lado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F606EB-FE42-47A2-97E6-88DAA943E9ED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FFDBFA4-6799-4B78-AC35-E0BA8DD0B128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CCB1291-CD91-4169-8137-13B6CF1EF50C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118360" cy="3143250"/>
          </a:xfrm>
          <a:prstGeom prst="roundRect">
            <a:avLst>
              <a:gd name="adj" fmla="val 359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847EF94-91DD-4BA0-A320-9EC4BD1E77AD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185166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Crescimento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1984069-C690-40FE-A010-27AE81C25312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185166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R acum.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6B3D26C-2E87-467E-8B0A-BA9B98A0B7A8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173736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Variação do patrimônio durante todo o teste.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DED4C79-C344-4BB1-9212-74D58F5B38F5}"/>
              </a:ext>
            </a:extLst>
          </p:cNvPr>
          <p:cNvSpPr>
            <a:spLocks noGrp="1"/>
          </p:cNvSpPr>
          <p:nvPr/>
        </p:nvSpPr>
        <p:spPr>
          <a:xfrm>
            <a:off x="2747010" y="1476375"/>
            <a:ext cx="2118360" cy="3143250"/>
          </a:xfrm>
          <a:prstGeom prst="roundRect">
            <a:avLst>
              <a:gd name="adj" fmla="val 359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5B37710-9112-49DA-9F83-6934D9ECF105}"/>
              </a:ext>
            </a:extLst>
          </p:cNvPr>
          <p:cNvSpPr>
            <a:spLocks noGrp="1"/>
          </p:cNvSpPr>
          <p:nvPr/>
        </p:nvSpPr>
        <p:spPr>
          <a:xfrm>
            <a:off x="2880360" y="1666875"/>
            <a:ext cx="185166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Retorno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ED94EB-0CD8-4DDE-9B32-59F4C0D743CA}"/>
              </a:ext>
            </a:extLst>
          </p:cNvPr>
          <p:cNvSpPr>
            <a:spLocks noGrp="1"/>
          </p:cNvSpPr>
          <p:nvPr/>
        </p:nvSpPr>
        <p:spPr>
          <a:xfrm>
            <a:off x="2880360" y="2333625"/>
            <a:ext cx="185166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R anual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B585049-5D2C-4636-87D0-4F166D3D8148}"/>
              </a:ext>
            </a:extLst>
          </p:cNvPr>
          <p:cNvSpPr>
            <a:spLocks noGrp="1"/>
          </p:cNvSpPr>
          <p:nvPr/>
        </p:nvSpPr>
        <p:spPr>
          <a:xfrm>
            <a:off x="2937510" y="3333750"/>
            <a:ext cx="173736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Taxa anualizada no mesmo horizonte para todas as carteiras.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6D67828-265B-4F60-829A-DC16A1BA3AA1}"/>
              </a:ext>
            </a:extLst>
          </p:cNvPr>
          <p:cNvSpPr>
            <a:spLocks noGrp="1"/>
          </p:cNvSpPr>
          <p:nvPr/>
        </p:nvSpPr>
        <p:spPr>
          <a:xfrm>
            <a:off x="5036820" y="1476375"/>
            <a:ext cx="2118360" cy="3143250"/>
          </a:xfrm>
          <a:prstGeom prst="roundRect">
            <a:avLst>
              <a:gd name="adj" fmla="val 359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DBF7236-CADB-4186-9045-705A9A7DD7A2}"/>
              </a:ext>
            </a:extLst>
          </p:cNvPr>
          <p:cNvSpPr>
            <a:spLocks noGrp="1"/>
          </p:cNvSpPr>
          <p:nvPr/>
        </p:nvSpPr>
        <p:spPr>
          <a:xfrm>
            <a:off x="5170170" y="1666875"/>
            <a:ext cx="185166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Risco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6DE12CA-9CED-4D47-9C9F-A244E72A3EB1}"/>
              </a:ext>
            </a:extLst>
          </p:cNvPr>
          <p:cNvSpPr>
            <a:spLocks noGrp="1"/>
          </p:cNvSpPr>
          <p:nvPr/>
        </p:nvSpPr>
        <p:spPr>
          <a:xfrm>
            <a:off x="5170170" y="2333625"/>
            <a:ext cx="185166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Vol. anual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2D54A24-E646-4FC4-BB80-DDEACF899FD4}"/>
              </a:ext>
            </a:extLst>
          </p:cNvPr>
          <p:cNvSpPr>
            <a:spLocks noGrp="1"/>
          </p:cNvSpPr>
          <p:nvPr/>
        </p:nvSpPr>
        <p:spPr>
          <a:xfrm>
            <a:off x="5227320" y="3333750"/>
            <a:ext cx="173736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Desvio padrão diário convertido para escala anual.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C5ECF25-81CC-456A-A196-ECF0BF59166D}"/>
              </a:ext>
            </a:extLst>
          </p:cNvPr>
          <p:cNvSpPr>
            <a:spLocks noGrp="1"/>
          </p:cNvSpPr>
          <p:nvPr/>
        </p:nvSpPr>
        <p:spPr>
          <a:xfrm>
            <a:off x="7326630" y="1476375"/>
            <a:ext cx="2118360" cy="3143250"/>
          </a:xfrm>
          <a:prstGeom prst="roundRect">
            <a:avLst>
              <a:gd name="adj" fmla="val 3597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C26244E-84BD-449D-A528-735CD713E889}"/>
              </a:ext>
            </a:extLst>
          </p:cNvPr>
          <p:cNvSpPr>
            <a:spLocks noGrp="1"/>
          </p:cNvSpPr>
          <p:nvPr/>
        </p:nvSpPr>
        <p:spPr>
          <a:xfrm>
            <a:off x="7459980" y="1666875"/>
            <a:ext cx="185166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Eficiência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8045AAA-9BFB-41B5-B42B-24DFF91EDFF9}"/>
              </a:ext>
            </a:extLst>
          </p:cNvPr>
          <p:cNvSpPr>
            <a:spLocks noGrp="1"/>
          </p:cNvSpPr>
          <p:nvPr/>
        </p:nvSpPr>
        <p:spPr>
          <a:xfrm>
            <a:off x="7459980" y="2333625"/>
            <a:ext cx="185166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Sharpe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9858544-F6D1-4CDE-9C64-3796BEF98D0B}"/>
              </a:ext>
            </a:extLst>
          </p:cNvPr>
          <p:cNvSpPr>
            <a:spLocks noGrp="1"/>
          </p:cNvSpPr>
          <p:nvPr/>
        </p:nvSpPr>
        <p:spPr>
          <a:xfrm>
            <a:off x="7517130" y="3333750"/>
            <a:ext cx="173736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Retorno médio por unidade de volatilidade.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4F9FDE8-4AFA-40C6-A24B-9551A4E36A58}"/>
              </a:ext>
            </a:extLst>
          </p:cNvPr>
          <p:cNvSpPr>
            <a:spLocks noGrp="1"/>
          </p:cNvSpPr>
          <p:nvPr/>
        </p:nvSpPr>
        <p:spPr>
          <a:xfrm>
            <a:off x="9616440" y="1476375"/>
            <a:ext cx="2118360" cy="3143250"/>
          </a:xfrm>
          <a:prstGeom prst="roundRect">
            <a:avLst>
              <a:gd name="adj" fmla="val 359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A37AD23-5D84-4525-A8E3-1EA53EB9CB27}"/>
              </a:ext>
            </a:extLst>
          </p:cNvPr>
          <p:cNvSpPr>
            <a:spLocks noGrp="1"/>
          </p:cNvSpPr>
          <p:nvPr/>
        </p:nvSpPr>
        <p:spPr>
          <a:xfrm>
            <a:off x="9749790" y="1666875"/>
            <a:ext cx="185166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Perda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FC9C6CA-A1BF-4A49-9D18-46139F8329FE}"/>
              </a:ext>
            </a:extLst>
          </p:cNvPr>
          <p:cNvSpPr>
            <a:spLocks noGrp="1"/>
          </p:cNvSpPr>
          <p:nvPr/>
        </p:nvSpPr>
        <p:spPr>
          <a:xfrm>
            <a:off x="9749790" y="2333625"/>
            <a:ext cx="185166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MDD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81EBF30-8854-4DA1-AC22-419FE4E33B3E}"/>
              </a:ext>
            </a:extLst>
          </p:cNvPr>
          <p:cNvSpPr>
            <a:spLocks noGrp="1"/>
          </p:cNvSpPr>
          <p:nvPr/>
        </p:nvSpPr>
        <p:spPr>
          <a:xfrm>
            <a:off x="9806940" y="3333750"/>
            <a:ext cx="173736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Maior queda em relação ao pico anterior.</a:t>
            </a:r>
          </a:p>
        </p:txBody>
      </p:sp>
    </p:spTree>
    <p:extLst>
      <p:ext uri="{BB962C8B-B14F-4D97-AF65-F5344CB8AC3E}">
        <p14:creationId xmlns:p14="http://schemas.microsoft.com/office/powerpoint/2010/main" val="1690152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0EAF748E-389D-4E48-AA16-EABF7B5021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71241F7D-8DB7-4AB5-9C5A-FF192693A215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286C4B68-E015-4B40-A69D-71E960A45708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Recomendação na data mais recente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510C06C9-E0D2-48FC-9867-614423381F3F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gráfico final mostra pesos por ativo e perfil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E15E26-50AA-4323-9FBA-5991BF290BB3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DF90EB6-87E1-480C-A8CE-8A6E874C66C0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757BAD2-1D62-41B7-9710-8F71F851154D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D2E1E6F-EB40-4468-A411-255A0B61FB4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Justificativa quantitativa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A0DF07F-2D2C-4A6D-8265-65E8B690AB92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Probabilidade e escore por ETF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Volatilidade usada no ajuste de risco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Limite ativo ou folgado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Parcela mantida em caixa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CDEC8F2-531F-493C-B29A-DD2A7D67AC84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830AC88-A930-4B97-ACD5-90CEAB9BE735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Revisão humana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3DDBADB-785F-4E46-9F63-0DBA2556994B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Liquidez e capacidade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Eventos e risco de modelo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Adequação ao mandato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Concentração cambial e geográfica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Condições para suspender a recomendação</a:t>
            </a:r>
          </a:p>
        </p:txBody>
      </p:sp>
    </p:spTree>
    <p:extLst>
      <p:ext uri="{BB962C8B-B14F-4D97-AF65-F5344CB8AC3E}">
        <p14:creationId xmlns:p14="http://schemas.microsoft.com/office/powerpoint/2010/main" val="2852518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aixa-superior">
            <a:extLst>
              <a:ext uri="{FF2B5EF4-FFF2-40B4-BE49-F238E27FC236}">
                <a16:creationId xmlns:a16="http://schemas.microsoft.com/office/drawing/2014/main" id="{F1603D30-3549-48F8-A47D-48DF62B412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F0BF9485-21B6-403A-921B-73A8377D2EAC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CE0CA6DC-C9EF-4942-B16B-C02DD4521038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Comitê de investimentos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726EBB0D-133A-4867-B9EE-AA924575B75E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Cada grupo defende um perfil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CE92B35-312E-4CB3-9BEE-494D4050D65D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E43EBD9-F9F8-424E-B754-464563586BC4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6D40B8D-51E4-4EC5-ABF6-853C397C3D61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10858500" cy="3714750"/>
          </a:xfrm>
          <a:prstGeom prst="roundRect">
            <a:avLst>
              <a:gd name="adj" fmla="val 2051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220677-254E-4397-9BE9-A9615C4AE818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carteira de Machine Learning agrega valor depois de restrições e custos?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C759993-8746-433D-90EC-5AF66A14D081}"/>
              </a:ext>
            </a:extLst>
          </p:cNvPr>
          <p:cNvSpPr>
            <a:spLocks noGrp="1"/>
          </p:cNvSpPr>
          <p:nvPr/>
        </p:nvSpPr>
        <p:spPr>
          <a:xfrm>
            <a:off x="1714500" y="3238500"/>
            <a:ext cx="8763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defesa deve explicar compatibilidade com o perfil, peso em caixa, limites ativos, comparação com benchmarks e riscos omitidos pela volatilidade histórica.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BB8135-2B33-461C-BC39-70B0483B44C0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Entre probabilidade e peso existem risco, diversificação, custos e responsabilidade fiduciária.</a:t>
            </a:r>
          </a:p>
        </p:txBody>
      </p:sp>
    </p:spTree>
    <p:extLst>
      <p:ext uri="{BB962C8B-B14F-4D97-AF65-F5344CB8AC3E}">
        <p14:creationId xmlns:p14="http://schemas.microsoft.com/office/powerpoint/2010/main" val="2905699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893B724-021C-4848-99D3-AFAC14828B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313BF0-4254-41F0-946B-7119120FE894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13974F7-050E-4675-B39B-068420CCD544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71450" cy="3886200"/>
          </a:xfrm>
          <a:prstGeom prst="rect">
            <a:avLst/>
          </a:prstGeom>
          <a:solidFill>
            <a:srgbClr val="2C95DD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65FB3C-21B5-4009-AC72-9C5E1B9EE111}"/>
              </a:ext>
            </a:extLst>
          </p:cNvPr>
          <p:cNvSpPr>
            <a:spLocks noGrp="1"/>
          </p:cNvSpPr>
          <p:nvPr/>
        </p:nvSpPr>
        <p:spPr>
          <a:xfrm>
            <a:off x="952500" y="112395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E63573-485C-4A7C-858B-DFD6678825F5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9810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3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Analista de investimentos com IA generativa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C41A58-40F4-421D-B5AE-3A6CD60BD930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93345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RAG local com embeddings, FAISS e Phi-3 no Google Colab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73DBB6B-FBE3-4015-A49E-827353F4FABE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8096250" cy="876300"/>
          </a:xfrm>
          <a:prstGeom prst="roundRect">
            <a:avLst>
              <a:gd name="adj" fmla="val 869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2AED4B4-0A5B-442E-A9A9-97BCFF14DEBE}"/>
              </a:ext>
            </a:extLst>
          </p:cNvPr>
          <p:cNvSpPr>
            <a:spLocks noGrp="1"/>
          </p:cNvSpPr>
          <p:nvPr/>
        </p:nvSpPr>
        <p:spPr>
          <a:xfrm>
            <a:off x="1181100" y="4400550"/>
            <a:ext cx="76390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Como produzir um memorando rastreável sem permitir que o modelo invente evidências?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A070D1-36CE-477D-A196-17ADAA5AA9B5}"/>
              </a:ext>
            </a:extLst>
          </p:cNvPr>
          <p:cNvSpPr>
            <a:spLocks noGrp="1"/>
          </p:cNvSpPr>
          <p:nvPr/>
        </p:nvSpPr>
        <p:spPr>
          <a:xfrm>
            <a:off x="952500" y="58578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IA Aplicada à Gestão de Investimentos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353DF58-A6E4-4509-97B6-07D5C6D51964}"/>
              </a:ext>
            </a:extLst>
          </p:cNvPr>
          <p:cNvSpPr>
            <a:spLocks noGrp="1"/>
          </p:cNvSpPr>
          <p:nvPr/>
        </p:nvSpPr>
        <p:spPr>
          <a:xfrm>
            <a:off x="9620250" y="5857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</p:spTree>
    <p:extLst>
      <p:ext uri="{BB962C8B-B14F-4D97-AF65-F5344CB8AC3E}">
        <p14:creationId xmlns:p14="http://schemas.microsoft.com/office/powerpoint/2010/main" val="3826946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CFF0F5D3-DECE-4C2A-8179-47F8AA3869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D2D936FA-0EC9-4A35-828B-A1E7315A4CC9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82D05524-ABDB-4872-B5A5-6F1BDDDD039E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Objetivo e entregável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A7A64BF6-3ABF-4A3C-B3FC-AA86D25425F1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notebook combina recuperação semântica e geração condicionada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197360-79B8-4721-BD14-08F95E396DBA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A6A71F6-37B4-4590-AB19-F4BAAD833668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D4971CB-0CC9-4483-AF4A-6C7D5B4D30F2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5238750" cy="4333875"/>
          </a:xfrm>
          <a:prstGeom prst="roundRect">
            <a:avLst>
              <a:gd name="adj" fmla="val 175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76856C9-3E93-4C3A-A41C-E913E6335538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Aprendizagem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4B0BBF-793C-4162-AA47-C9BEA7EB48B0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501015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Extrair texto de documentos financeiros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Segmentar e indexar trechos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Recuperar evidências por similaridade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Gerar respostas com citações e declaração de insuficiência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2B2AC9A-80AD-4EAD-AC22-A5FD56930573}"/>
              </a:ext>
            </a:extLst>
          </p:cNvPr>
          <p:cNvSpPr>
            <a:spLocks noGrp="1"/>
          </p:cNvSpPr>
          <p:nvPr/>
        </p:nvSpPr>
        <p:spPr>
          <a:xfrm>
            <a:off x="5981700" y="1381125"/>
            <a:ext cx="5753100" cy="4333875"/>
          </a:xfrm>
          <a:prstGeom prst="roundRect">
            <a:avLst>
              <a:gd name="adj" fmla="val 1758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08D533-7F94-4392-B84F-2C141E8CF390}"/>
              </a:ext>
            </a:extLst>
          </p:cNvPr>
          <p:cNvSpPr>
            <a:spLocks noGrp="1"/>
          </p:cNvSpPr>
          <p:nvPr/>
        </p:nvSpPr>
        <p:spPr>
          <a:xfrm>
            <a:off x="6134100" y="1495425"/>
            <a:ext cx="544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do grupo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46DB800-F762-465B-A9E6-94EFEF95F371}"/>
              </a:ext>
            </a:extLst>
          </p:cNvPr>
          <p:cNvSpPr>
            <a:spLocks noGrp="1"/>
          </p:cNvSpPr>
          <p:nvPr/>
        </p:nvSpPr>
        <p:spPr>
          <a:xfrm>
            <a:off x="6134100" y="1857375"/>
            <a:ext cx="544830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Memorando de investimento com fontes, comparação com uma resposta sem RAG e auditoria das afirmações produzidas pelo modelo.</a:t>
            </a:r>
          </a:p>
        </p:txBody>
      </p:sp>
    </p:spTree>
    <p:extLst>
      <p:ext uri="{BB962C8B-B14F-4D97-AF65-F5344CB8AC3E}">
        <p14:creationId xmlns:p14="http://schemas.microsoft.com/office/powerpoint/2010/main" val="34104565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aixa-superior">
            <a:extLst>
              <a:ext uri="{FF2B5EF4-FFF2-40B4-BE49-F238E27FC236}">
                <a16:creationId xmlns:a16="http://schemas.microsoft.com/office/drawing/2014/main" id="{0112FBB7-5F54-4C4A-BA4D-39D58947C8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9036BAF8-F7CE-45B5-9C17-93562E9E148A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8DF6AE97-5366-4058-A398-C9C4CBFB2AB5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Arquitetura do RAG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2E9B8F75-4CD5-401E-BA67-05A31AA0640A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contexto recuperado limita a base factual da resposta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379A9A-152E-44B9-B524-06269ACA2EE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B8D0CF4-2686-42C5-BEDE-B34E4F692221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95E54F4-864E-465F-B123-EF3C0C170D5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502801-3DC6-4110-A534-34FE859231CE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415F5C5-8F94-401B-A880-50E48C0636EF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24E0B0C-F36F-4A09-8A76-2A931AC1FA06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0C82AD5-98CC-4CDD-8248-2E8A7141EDBB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PDF, TXT, MD, CSV e XLSX enviados ao Colab.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8FEA24F-3403-4887-8039-05E2F6D01C2F}"/>
              </a:ext>
            </a:extLst>
          </p:cNvPr>
          <p:cNvSpPr>
            <a:spLocks noGrp="1"/>
          </p:cNvSpPr>
          <p:nvPr/>
        </p:nvSpPr>
        <p:spPr>
          <a:xfrm>
            <a:off x="273939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B21A304-3827-42E3-9E7B-4651AA5CA1AB}"/>
              </a:ext>
            </a:extLst>
          </p:cNvPr>
          <p:cNvSpPr>
            <a:spLocks noGrp="1"/>
          </p:cNvSpPr>
          <p:nvPr/>
        </p:nvSpPr>
        <p:spPr>
          <a:xfrm>
            <a:off x="287274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4C50D74-4087-4807-905E-4B212C6CBBB7}"/>
              </a:ext>
            </a:extLst>
          </p:cNvPr>
          <p:cNvSpPr>
            <a:spLocks noGrp="1"/>
          </p:cNvSpPr>
          <p:nvPr/>
        </p:nvSpPr>
        <p:spPr>
          <a:xfrm>
            <a:off x="287274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21CBF7E-DF60-4A8C-A315-3DD0CCC4ABE7}"/>
              </a:ext>
            </a:extLst>
          </p:cNvPr>
          <p:cNvSpPr>
            <a:spLocks noGrp="1"/>
          </p:cNvSpPr>
          <p:nvPr/>
        </p:nvSpPr>
        <p:spPr>
          <a:xfrm>
            <a:off x="289179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7BB664E-CD2D-4AC2-B3F5-9C86B255CE7E}"/>
              </a:ext>
            </a:extLst>
          </p:cNvPr>
          <p:cNvSpPr>
            <a:spLocks noGrp="1"/>
          </p:cNvSpPr>
          <p:nvPr/>
        </p:nvSpPr>
        <p:spPr>
          <a:xfrm>
            <a:off x="289179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Trechos com tamanho e sobreposição controlados.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D7C0040-6449-463B-AE0C-B9C612445E36}"/>
              </a:ext>
            </a:extLst>
          </p:cNvPr>
          <p:cNvSpPr>
            <a:spLocks noGrp="1"/>
          </p:cNvSpPr>
          <p:nvPr/>
        </p:nvSpPr>
        <p:spPr>
          <a:xfrm>
            <a:off x="502158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FA8F08E-32A0-4F33-8F85-E700B8E81252}"/>
              </a:ext>
            </a:extLst>
          </p:cNvPr>
          <p:cNvSpPr>
            <a:spLocks noGrp="1"/>
          </p:cNvSpPr>
          <p:nvPr/>
        </p:nvSpPr>
        <p:spPr>
          <a:xfrm>
            <a:off x="515493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126CA5C-C9D0-4FAC-AF3D-4CCEE755AB1B}"/>
              </a:ext>
            </a:extLst>
          </p:cNvPr>
          <p:cNvSpPr>
            <a:spLocks noGrp="1"/>
          </p:cNvSpPr>
          <p:nvPr/>
        </p:nvSpPr>
        <p:spPr>
          <a:xfrm>
            <a:off x="515493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5226D98-DCFE-415D-8FA4-5B451311DD97}"/>
              </a:ext>
            </a:extLst>
          </p:cNvPr>
          <p:cNvSpPr>
            <a:spLocks noGrp="1"/>
          </p:cNvSpPr>
          <p:nvPr/>
        </p:nvSpPr>
        <p:spPr>
          <a:xfrm>
            <a:off x="517398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923240A-52BA-40A1-B08F-26D8724DB6D1}"/>
              </a:ext>
            </a:extLst>
          </p:cNvPr>
          <p:cNvSpPr>
            <a:spLocks noGrp="1"/>
          </p:cNvSpPr>
          <p:nvPr/>
        </p:nvSpPr>
        <p:spPr>
          <a:xfrm>
            <a:off x="517398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Vetores multilíngues normalizados representam o conteúdo.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F90AFE1-E53B-4472-B1F9-22B7828F6120}"/>
              </a:ext>
            </a:extLst>
          </p:cNvPr>
          <p:cNvSpPr>
            <a:spLocks noGrp="1"/>
          </p:cNvSpPr>
          <p:nvPr/>
        </p:nvSpPr>
        <p:spPr>
          <a:xfrm>
            <a:off x="730377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3BE2EC0-5D92-40F9-91F5-931C29C9EF00}"/>
              </a:ext>
            </a:extLst>
          </p:cNvPr>
          <p:cNvSpPr>
            <a:spLocks noGrp="1"/>
          </p:cNvSpPr>
          <p:nvPr/>
        </p:nvSpPr>
        <p:spPr>
          <a:xfrm>
            <a:off x="743712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BB2C38A-4E72-4C58-9F3C-139A12C9C931}"/>
              </a:ext>
            </a:extLst>
          </p:cNvPr>
          <p:cNvSpPr>
            <a:spLocks noGrp="1"/>
          </p:cNvSpPr>
          <p:nvPr/>
        </p:nvSpPr>
        <p:spPr>
          <a:xfrm>
            <a:off x="743712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DE0B995-F348-4C83-9152-5B0C6749313D}"/>
              </a:ext>
            </a:extLst>
          </p:cNvPr>
          <p:cNvSpPr>
            <a:spLocks noGrp="1"/>
          </p:cNvSpPr>
          <p:nvPr/>
        </p:nvSpPr>
        <p:spPr>
          <a:xfrm>
            <a:off x="745617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FAISS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AA56990-6B2A-4D65-91CF-15AECBF84E0E}"/>
              </a:ext>
            </a:extLst>
          </p:cNvPr>
          <p:cNvSpPr>
            <a:spLocks noGrp="1"/>
          </p:cNvSpPr>
          <p:nvPr/>
        </p:nvSpPr>
        <p:spPr>
          <a:xfrm>
            <a:off x="745617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Busca os trechos mais próximos da pergunta.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12AE051C-B3CD-4E49-AFEE-C578996DC442}"/>
              </a:ext>
            </a:extLst>
          </p:cNvPr>
          <p:cNvSpPr>
            <a:spLocks noGrp="1"/>
          </p:cNvSpPr>
          <p:nvPr/>
        </p:nvSpPr>
        <p:spPr>
          <a:xfrm>
            <a:off x="958596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89B5E76-BC36-4F9B-BA51-CAD5F1EBF6EA}"/>
              </a:ext>
            </a:extLst>
          </p:cNvPr>
          <p:cNvSpPr>
            <a:spLocks noGrp="1"/>
          </p:cNvSpPr>
          <p:nvPr/>
        </p:nvSpPr>
        <p:spPr>
          <a:xfrm>
            <a:off x="971931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833DB28-82CD-4884-95A2-72474BB45620}"/>
              </a:ext>
            </a:extLst>
          </p:cNvPr>
          <p:cNvSpPr>
            <a:spLocks noGrp="1"/>
          </p:cNvSpPr>
          <p:nvPr/>
        </p:nvSpPr>
        <p:spPr>
          <a:xfrm>
            <a:off x="971931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996EEEC-6D1C-4F0B-A06F-B0C4C6A5F727}"/>
              </a:ext>
            </a:extLst>
          </p:cNvPr>
          <p:cNvSpPr>
            <a:spLocks noGrp="1"/>
          </p:cNvSpPr>
          <p:nvPr/>
        </p:nvSpPr>
        <p:spPr>
          <a:xfrm>
            <a:off x="973836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Phi-3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40CF11E-88BF-427C-A4E4-5679ED71CFEF}"/>
              </a:ext>
            </a:extLst>
          </p:cNvPr>
          <p:cNvSpPr>
            <a:spLocks noGrp="1"/>
          </p:cNvSpPr>
          <p:nvPr/>
        </p:nvSpPr>
        <p:spPr>
          <a:xfrm>
            <a:off x="973836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Gera o memorando usando apenas o contexto recuperado.</a:t>
            </a:r>
          </a:p>
        </p:txBody>
      </p:sp>
    </p:spTree>
    <p:extLst>
      <p:ext uri="{BB962C8B-B14F-4D97-AF65-F5344CB8AC3E}">
        <p14:creationId xmlns:p14="http://schemas.microsoft.com/office/powerpoint/2010/main" val="41464330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79DD0D0B-33BE-4F75-A255-0B37DCBB3A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F2F5D3CE-1CEC-41C8-9E3F-725DCF1E212F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634F9025-AEC3-4D67-B524-C3813BCE9323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Conjunto documental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B86C997B-DF88-436B-84CB-3C7D5431FFF6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qualidade das fontes define o teto do sistema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1D53FD-7ACD-4C7B-A4C3-5B39BF15B25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6BE76A-D560-4A43-BC5F-66C51CBEDD7D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86720DE-4772-42B4-9534-8BEB07335930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C51538-D6FA-4FF0-AE7E-C9BF1B6B3333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Formatos aceitos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4C6C8A3-2F7A-4F3A-9FF2-B355A205BDED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PDF com texto extraível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Arquivos TXT e Markdown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Planilhas CSV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Pastas de trabalho XLSX lidas por aba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D9D3E24-7058-439F-93FB-0CE24FDD19B8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19FD9A7-9256-4CED-A3F4-B8B88575D88A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Cuidados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C78485D-E368-45DD-AA20-A04569435141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PDF digitalizado exige OCR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Tabelas podem perder estrutura na extração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Documentos duplicados alteram a recuperação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Informações desatualizadas continuam parecendo plausíveis</a:t>
            </a:r>
          </a:p>
        </p:txBody>
      </p:sp>
    </p:spTree>
    <p:extLst>
      <p:ext uri="{BB962C8B-B14F-4D97-AF65-F5344CB8AC3E}">
        <p14:creationId xmlns:p14="http://schemas.microsoft.com/office/powerpoint/2010/main" val="39889270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63C429DC-554F-4CEC-AC46-6E385C2FB1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884A20F2-76F3-4846-941E-F46BC329D650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B31122D9-24C1-4090-9F69-FC51A1EFF2C6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Segmentação em trechos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1A452EE5-B21F-4EB6-BAE5-37EBE8552D1E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Tamanho e sobreposição controlam contexto e precisão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E2333F-15A3-448E-9D50-8598BA820478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565AFA-A483-43CC-8215-175D028157A3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FE68830-8F42-4ACC-8F4A-2732721B18F5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8C59BEE-5AB5-4B02-9B88-5F84531746FA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TAMANHO_CHUNK = 1600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SOBREPOSICAO = 250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while inicio &lt; len(texto):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fim = min(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    inicio + TAMANHO_CHUNK,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    len(texto)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)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trechos.append(texto[inicio:fim])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inicio = fim - SOBREPOSICAO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92EE333-245F-4629-A442-24B033497201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321030-7587-485A-81A6-96442CF3ADBD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Trade-offs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A9644AE-4758-4533-92F0-671CB08AC413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Trechos curtos aumentam precisão local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Trechos longos preservam relações e tabelas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Sobreposição reduz cortes abruptos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Muitos chunks elevam memória e tempo de busca</a:t>
            </a:r>
          </a:p>
        </p:txBody>
      </p:sp>
    </p:spTree>
    <p:extLst>
      <p:ext uri="{BB962C8B-B14F-4D97-AF65-F5344CB8AC3E}">
        <p14:creationId xmlns:p14="http://schemas.microsoft.com/office/powerpoint/2010/main" val="12185306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825FCD6A-D7EB-483A-BB3D-FF8CCA9FB8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7F6A2BC6-4999-47F3-86F7-8BE2BA1BDD27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B5F2E1B9-2BA1-4665-9396-E904125FEE5D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Embeddings e índice FAISS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EC595B24-0D48-4B6D-BEA8-AE6434A34303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busca usa produto interno sobre vetores normalizados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AF6005F-A02E-4103-8455-499755367BFC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C473BF-3D6E-404B-909B-D98590CE1927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B061389-80C1-4DD8-8292-A388B6FAE4BA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FA7FC30-12B9-4254-834E-02A1962E3F6E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modelo_embeddings = SentenceTransformer(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"sentence-transformers/"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"paraphrase-multilingual-MiniLM-L12-v2"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vetores = modelo_embeddings.encode(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chunks,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normalize_embeddings=True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indice = faiss.IndexFlatIP(vetores.shape[1])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indice.add(vetores.astype("float32"))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0E873C6-E2FA-45E2-83C2-A6DE45463266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12EE19E-6984-4C90-9331-16EC6B4BE690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Interpretação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A9FE7A-288D-484D-BD63-FC7E3219EEC7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Pergunta e documentos usam o mesmo espaço vetorial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Normalização aproxima produto interno e similaridade cosseno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FAISS não treina o modelo de embeddings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O índice retorna proximidade, não veracidade</a:t>
            </a:r>
          </a:p>
        </p:txBody>
      </p:sp>
    </p:spTree>
    <p:extLst>
      <p:ext uri="{BB962C8B-B14F-4D97-AF65-F5344CB8AC3E}">
        <p14:creationId xmlns:p14="http://schemas.microsoft.com/office/powerpoint/2010/main" val="35941655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aixa-superior">
            <a:extLst>
              <a:ext uri="{FF2B5EF4-FFF2-40B4-BE49-F238E27FC236}">
                <a16:creationId xmlns:a16="http://schemas.microsoft.com/office/drawing/2014/main" id="{5FD4D21B-4492-459F-BAC5-BE13F6DAF6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7471D921-0FB4-49C4-ABA9-AA342F287B90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A0BE1CC2-F792-47BB-8838-F63E3B4F5634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Inspeção da recuperação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6D2A97CB-7E20-4D88-8416-6C960C678B6C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revisão dos top-k trechos precede a geração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FA68396-C42D-4A52-B967-7C935269D9F6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9976C57-FCA1-4E24-BCAC-B09B365E6534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F247330-7F70-499E-AFFA-75B634DCBD03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EE07715-7996-4DE4-88ED-CA6C2D3A7C81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6717BB4-77E2-410D-859A-2E6DE29DE216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39909E5-5251-4B3C-9AEC-97A5053BF091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Pergunta específica e verificável.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A29BDB6-5F6C-4254-8FA6-E5639B302893}"/>
              </a:ext>
            </a:extLst>
          </p:cNvPr>
          <p:cNvSpPr>
            <a:spLocks noGrp="1"/>
          </p:cNvSpPr>
          <p:nvPr/>
        </p:nvSpPr>
        <p:spPr>
          <a:xfrm>
            <a:off x="3319463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79599B6-F17D-457B-B752-9A7A203D3940}"/>
              </a:ext>
            </a:extLst>
          </p:cNvPr>
          <p:cNvSpPr>
            <a:spLocks noGrp="1"/>
          </p:cNvSpPr>
          <p:nvPr/>
        </p:nvSpPr>
        <p:spPr>
          <a:xfrm>
            <a:off x="3452813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Quantidade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3419CC-93ED-464A-9E7E-1BAF0C32FB0E}"/>
              </a:ext>
            </a:extLst>
          </p:cNvPr>
          <p:cNvSpPr>
            <a:spLocks noGrp="1"/>
          </p:cNvSpPr>
          <p:nvPr/>
        </p:nvSpPr>
        <p:spPr>
          <a:xfrm>
            <a:off x="3452813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k = 6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5F9C745-891B-4AFB-9432-6052C81D9797}"/>
              </a:ext>
            </a:extLst>
          </p:cNvPr>
          <p:cNvSpPr>
            <a:spLocks noGrp="1"/>
          </p:cNvSpPr>
          <p:nvPr/>
        </p:nvSpPr>
        <p:spPr>
          <a:xfrm>
            <a:off x="3509963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Número de trechos enviados ao modelo.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C6DB6F6-6655-45A5-A875-260766247440}"/>
              </a:ext>
            </a:extLst>
          </p:cNvPr>
          <p:cNvSpPr>
            <a:spLocks noGrp="1"/>
          </p:cNvSpPr>
          <p:nvPr/>
        </p:nvSpPr>
        <p:spPr>
          <a:xfrm>
            <a:off x="6181725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56B8093-E954-44CD-A5DD-29E677E5A7A9}"/>
              </a:ext>
            </a:extLst>
          </p:cNvPr>
          <p:cNvSpPr>
            <a:spLocks noGrp="1"/>
          </p:cNvSpPr>
          <p:nvPr/>
        </p:nvSpPr>
        <p:spPr>
          <a:xfrm>
            <a:off x="6315075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Similaridade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7841573-BDB3-4479-8713-68A48060FFF6}"/>
              </a:ext>
            </a:extLst>
          </p:cNvPr>
          <p:cNvSpPr>
            <a:spLocks noGrp="1"/>
          </p:cNvSpPr>
          <p:nvPr/>
        </p:nvSpPr>
        <p:spPr>
          <a:xfrm>
            <a:off x="6315075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FBDCB1C-E29E-451B-88F8-68E346D0C0D9}"/>
              </a:ext>
            </a:extLst>
          </p:cNvPr>
          <p:cNvSpPr>
            <a:spLocks noGrp="1"/>
          </p:cNvSpPr>
          <p:nvPr/>
        </p:nvSpPr>
        <p:spPr>
          <a:xfrm>
            <a:off x="6372225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Critério de ordenação dos candidatos.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FE55D3B-419F-4CA3-9C5A-203B6F52F3E7}"/>
              </a:ext>
            </a:extLst>
          </p:cNvPr>
          <p:cNvSpPr>
            <a:spLocks noGrp="1"/>
          </p:cNvSpPr>
          <p:nvPr/>
        </p:nvSpPr>
        <p:spPr>
          <a:xfrm>
            <a:off x="9043988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258AF92-B1F2-4BD4-B553-53BD4028A15D}"/>
              </a:ext>
            </a:extLst>
          </p:cNvPr>
          <p:cNvSpPr>
            <a:spLocks noGrp="1"/>
          </p:cNvSpPr>
          <p:nvPr/>
        </p:nvSpPr>
        <p:spPr>
          <a:xfrm>
            <a:off x="9177338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Proveniência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C88810A-E47B-4C91-8087-97A3C3D46A14}"/>
              </a:ext>
            </a:extLst>
          </p:cNvPr>
          <p:cNvSpPr>
            <a:spLocks noGrp="1"/>
          </p:cNvSpPr>
          <p:nvPr/>
        </p:nvSpPr>
        <p:spPr>
          <a:xfrm>
            <a:off x="9177338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chunk_id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CA87149-D7B0-4430-B2E2-6129F7004AA0}"/>
              </a:ext>
            </a:extLst>
          </p:cNvPr>
          <p:cNvSpPr>
            <a:spLocks noGrp="1"/>
          </p:cNvSpPr>
          <p:nvPr/>
        </p:nvSpPr>
        <p:spPr>
          <a:xfrm>
            <a:off x="9234488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Identificador usado nas citações.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9F947AD-8046-4FE7-94F9-137AC807859F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781050"/>
          </a:xfrm>
          <a:prstGeom prst="roundRect">
            <a:avLst>
              <a:gd name="adj" fmla="val 975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9A75A01-8979-4FB2-8DEA-C928A20EE2CB}"/>
              </a:ext>
            </a:extLst>
          </p:cNvPr>
          <p:cNvSpPr>
            <a:spLocks noGrp="1"/>
          </p:cNvSpPr>
          <p:nvPr/>
        </p:nvSpPr>
        <p:spPr>
          <a:xfrm>
            <a:off x="1952625" y="5095875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Se os trechos relevantes não aparecem, o problema surge antes do LLM.</a:t>
            </a:r>
          </a:p>
        </p:txBody>
      </p:sp>
    </p:spTree>
    <p:extLst>
      <p:ext uri="{BB962C8B-B14F-4D97-AF65-F5344CB8AC3E}">
        <p14:creationId xmlns:p14="http://schemas.microsoft.com/office/powerpoint/2010/main" val="20063378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8BF388BC-59DC-4AE3-A6B5-EA2D8CC790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233076DB-E659-4234-8C5D-B775144BEAD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69CB0499-CCE3-40D9-947D-655F0F089F08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Phi-3 em 4 bits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3B18BB7C-A762-414A-8D13-0F826BA6EC89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quantização permite executar o modelo em uma GPU comum do Colab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64F3C22-EAFB-41A0-8B60-E594C0668C2F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D6CC501-4A2B-4B16-96BF-239D19AD6A8F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477F6AE-8B7B-4CCC-B8AD-C0B086B14DA2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70C51C-608D-4387-A7DB-68AEFF0FAAF3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Configuração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EE85FDF-E4C7-4172-A494-104AA482D79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microsoft/Phi-3-mini-4k-instruct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Carregamento com bitsandbytes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Quantização NF4 em 4 bits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Cálculo em float16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Implementação de atenção eager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E5E1AE5-7526-4DF1-9956-B1A04B88E4E4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5A04F0D-CB9D-49F7-869A-9F3CFFCC7A70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Limitações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4F552ED-EA3E-47FB-9A46-75C9C54FBB18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 quantização pode alterar a saída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 janela de contexto limita o número de trechos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O Colab pode variar em GPU e memória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O modelo não conhece documentos que não entraram no contexto</a:t>
            </a:r>
          </a:p>
        </p:txBody>
      </p:sp>
    </p:spTree>
    <p:extLst>
      <p:ext uri="{BB962C8B-B14F-4D97-AF65-F5344CB8AC3E}">
        <p14:creationId xmlns:p14="http://schemas.microsoft.com/office/powerpoint/2010/main" val="17698776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1F581B1B-E8BD-44F0-9476-7D2563288A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EFA3CCF5-2810-42DD-946F-89A3A556E849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66B028C7-099D-4B19-8A06-4F1904647F18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Prompt com evidências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C90746E8-330A-4156-ADD3-23BCF1D7D874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As instruções separam fatos, inferências e lacunas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D70F31-D463-48F7-918C-A92EF4C67C4F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FBFED7E-FF79-4BA9-A26D-E80C48D73C54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A0D8A04-CA4E-414C-B5E3-577228E56D6B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74B7220-688E-4B78-8B5A-2DDBCDA493A6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Você é um analista de investimentos cuidadoso.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somente os trechos fornecidos para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afirmações factuais.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Cite a fonte no formato [Fonte: ...].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Quando a evidência não for suficiente, escreva: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"evidência insuficiente nos documentos recuperados".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Não invente números, eventos, preços-alvo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 recomendações.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9639128-C218-4127-B33D-6EE3B7DC0F3D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2166ECF-9489-427D-A1CD-793CC2574322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Controles esperados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4314E10-FC76-452F-A1D9-62A290C9DE81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Citações próximas às afirmações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Separação entre evidência e interpretação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Declaração explícita de lacunas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Temperatura zero na resposta auditável</a:t>
            </a:r>
          </a:p>
        </p:txBody>
      </p:sp>
    </p:spTree>
    <p:extLst>
      <p:ext uri="{BB962C8B-B14F-4D97-AF65-F5344CB8AC3E}">
        <p14:creationId xmlns:p14="http://schemas.microsoft.com/office/powerpoint/2010/main" val="2315724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aixa-superior">
            <a:extLst>
              <a:ext uri="{FF2B5EF4-FFF2-40B4-BE49-F238E27FC236}">
                <a16:creationId xmlns:a16="http://schemas.microsoft.com/office/drawing/2014/main" id="{69D159DB-9EE2-49EC-B53D-B3525C90E6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46E81CEF-4EF4-4741-8BD5-A8B021BBAE13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D7CAC9AE-811C-44C2-AC25-62FE1F36A3E7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Memorando com RAG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0CDD710D-4C6D-4C54-BE24-6BD6F7305D01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tarefa estrutura a resposta como produto de análise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5FDDA1B-F87A-4C19-AD47-9D02999FDEC1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389E6B1-AC20-4514-BFD0-9D7478C42EAC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A6AE136-F430-41F3-9C7E-BCDA1DD527F8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6B57B0A-DA8D-4736-A965-8EC5AEF1EA99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AB7974A-36CC-4508-86E2-E84EC5784204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1260E0-7BA9-48FB-85F7-A0BDC6F2F4B5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Tese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CF8CDD5-52EE-44B9-842B-59BBA53BCAD5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Síntese do caso com limites claros de evidência.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9412E73-11DA-4F4A-9E8F-4A7C9AF8A450}"/>
              </a:ext>
            </a:extLst>
          </p:cNvPr>
          <p:cNvSpPr>
            <a:spLocks noGrp="1"/>
          </p:cNvSpPr>
          <p:nvPr/>
        </p:nvSpPr>
        <p:spPr>
          <a:xfrm>
            <a:off x="273939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9ED073D-C10F-4CC6-B9AA-39812D1C7D33}"/>
              </a:ext>
            </a:extLst>
          </p:cNvPr>
          <p:cNvSpPr>
            <a:spLocks noGrp="1"/>
          </p:cNvSpPr>
          <p:nvPr/>
        </p:nvSpPr>
        <p:spPr>
          <a:xfrm>
            <a:off x="287274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11EB828-E4A3-41F2-9497-FA0F8CC25907}"/>
              </a:ext>
            </a:extLst>
          </p:cNvPr>
          <p:cNvSpPr>
            <a:spLocks noGrp="1"/>
          </p:cNvSpPr>
          <p:nvPr/>
        </p:nvSpPr>
        <p:spPr>
          <a:xfrm>
            <a:off x="287274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C2AD1D3-CD81-4F6D-A12D-295753830EBB}"/>
              </a:ext>
            </a:extLst>
          </p:cNvPr>
          <p:cNvSpPr>
            <a:spLocks noGrp="1"/>
          </p:cNvSpPr>
          <p:nvPr/>
        </p:nvSpPr>
        <p:spPr>
          <a:xfrm>
            <a:off x="289179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Evidências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8811AA1-7A64-4916-9BAB-43F71A48D7BE}"/>
              </a:ext>
            </a:extLst>
          </p:cNvPr>
          <p:cNvSpPr>
            <a:spLocks noGrp="1"/>
          </p:cNvSpPr>
          <p:nvPr/>
        </p:nvSpPr>
        <p:spPr>
          <a:xfrm>
            <a:off x="289179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Afirmações ligadas aos chunks recuperados.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D0AF7D1-AD5A-49F9-B304-0802781A5987}"/>
              </a:ext>
            </a:extLst>
          </p:cNvPr>
          <p:cNvSpPr>
            <a:spLocks noGrp="1"/>
          </p:cNvSpPr>
          <p:nvPr/>
        </p:nvSpPr>
        <p:spPr>
          <a:xfrm>
            <a:off x="502158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4332EFD-3033-43EF-9395-2111E817CC26}"/>
              </a:ext>
            </a:extLst>
          </p:cNvPr>
          <p:cNvSpPr>
            <a:spLocks noGrp="1"/>
          </p:cNvSpPr>
          <p:nvPr/>
        </p:nvSpPr>
        <p:spPr>
          <a:xfrm>
            <a:off x="515493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0935C3A-6526-4D74-98CA-3F77354E8683}"/>
              </a:ext>
            </a:extLst>
          </p:cNvPr>
          <p:cNvSpPr>
            <a:spLocks noGrp="1"/>
          </p:cNvSpPr>
          <p:nvPr/>
        </p:nvSpPr>
        <p:spPr>
          <a:xfrm>
            <a:off x="515493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FBF675E-93B0-4938-B5E5-B51E9BEA7CA7}"/>
              </a:ext>
            </a:extLst>
          </p:cNvPr>
          <p:cNvSpPr>
            <a:spLocks noGrp="1"/>
          </p:cNvSpPr>
          <p:nvPr/>
        </p:nvSpPr>
        <p:spPr>
          <a:xfrm>
            <a:off x="517398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Riscos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DF8EFEB-06CD-4210-8983-B9294426F3D5}"/>
              </a:ext>
            </a:extLst>
          </p:cNvPr>
          <p:cNvSpPr>
            <a:spLocks noGrp="1"/>
          </p:cNvSpPr>
          <p:nvPr/>
        </p:nvSpPr>
        <p:spPr>
          <a:xfrm>
            <a:off x="517398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Fatores documentados e lacunas relevantes.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FEB640B-3F96-46C1-B87A-1AD006CA1904}"/>
              </a:ext>
            </a:extLst>
          </p:cNvPr>
          <p:cNvSpPr>
            <a:spLocks noGrp="1"/>
          </p:cNvSpPr>
          <p:nvPr/>
        </p:nvSpPr>
        <p:spPr>
          <a:xfrm>
            <a:off x="730377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A064220-720E-4570-B295-069FFB4759E9}"/>
              </a:ext>
            </a:extLst>
          </p:cNvPr>
          <p:cNvSpPr>
            <a:spLocks noGrp="1"/>
          </p:cNvSpPr>
          <p:nvPr/>
        </p:nvSpPr>
        <p:spPr>
          <a:xfrm>
            <a:off x="743712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29863ED-4FE7-4A86-82E2-D99C5F425C07}"/>
              </a:ext>
            </a:extLst>
          </p:cNvPr>
          <p:cNvSpPr>
            <a:spLocks noGrp="1"/>
          </p:cNvSpPr>
          <p:nvPr/>
        </p:nvSpPr>
        <p:spPr>
          <a:xfrm>
            <a:off x="743712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F5AF1CC-A969-4D40-987C-AB4F1C58A43D}"/>
              </a:ext>
            </a:extLst>
          </p:cNvPr>
          <p:cNvSpPr>
            <a:spLocks noGrp="1"/>
          </p:cNvSpPr>
          <p:nvPr/>
        </p:nvSpPr>
        <p:spPr>
          <a:xfrm>
            <a:off x="745617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Cenários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18DF4E9-5CD3-4988-868B-ED28F26DD0A1}"/>
              </a:ext>
            </a:extLst>
          </p:cNvPr>
          <p:cNvSpPr>
            <a:spLocks noGrp="1"/>
          </p:cNvSpPr>
          <p:nvPr/>
        </p:nvSpPr>
        <p:spPr>
          <a:xfrm>
            <a:off x="745617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Inferências identificadas como hipóteses.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71E4D79-7F81-4839-83C2-E57F9FA0F5D5}"/>
              </a:ext>
            </a:extLst>
          </p:cNvPr>
          <p:cNvSpPr>
            <a:spLocks noGrp="1"/>
          </p:cNvSpPr>
          <p:nvPr/>
        </p:nvSpPr>
        <p:spPr>
          <a:xfrm>
            <a:off x="9585960" y="1809750"/>
            <a:ext cx="2148840" cy="2190750"/>
          </a:xfrm>
          <a:prstGeom prst="roundRect">
            <a:avLst>
              <a:gd name="adj" fmla="val 354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A065739-1ED6-41C8-879A-FEF2D14EB602}"/>
              </a:ext>
            </a:extLst>
          </p:cNvPr>
          <p:cNvSpPr>
            <a:spLocks noGrp="1"/>
          </p:cNvSpPr>
          <p:nvPr/>
        </p:nvSpPr>
        <p:spPr>
          <a:xfrm>
            <a:off x="971931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9653C07-E169-4B93-A669-037496450A92}"/>
              </a:ext>
            </a:extLst>
          </p:cNvPr>
          <p:cNvSpPr>
            <a:spLocks noGrp="1"/>
          </p:cNvSpPr>
          <p:nvPr/>
        </p:nvSpPr>
        <p:spPr>
          <a:xfrm>
            <a:off x="971931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1A7237E-0A79-45F4-BA42-967CF8638B2D}"/>
              </a:ext>
            </a:extLst>
          </p:cNvPr>
          <p:cNvSpPr>
            <a:spLocks noGrp="1"/>
          </p:cNvSpPr>
          <p:nvPr/>
        </p:nvSpPr>
        <p:spPr>
          <a:xfrm>
            <a:off x="9738360" y="2419350"/>
            <a:ext cx="184404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45B2C0C-C0D5-4305-B088-77E99643FE76}"/>
              </a:ext>
            </a:extLst>
          </p:cNvPr>
          <p:cNvSpPr>
            <a:spLocks noGrp="1"/>
          </p:cNvSpPr>
          <p:nvPr/>
        </p:nvSpPr>
        <p:spPr>
          <a:xfrm>
            <a:off x="9738360" y="2819400"/>
            <a:ext cx="184404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Decisão proporcional ao suporte documental.</a:t>
            </a:r>
          </a:p>
        </p:txBody>
      </p:sp>
    </p:spTree>
    <p:extLst>
      <p:ext uri="{BB962C8B-B14F-4D97-AF65-F5344CB8AC3E}">
        <p14:creationId xmlns:p14="http://schemas.microsoft.com/office/powerpoint/2010/main" val="3820951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1C3B8128-2A83-4696-A028-1A28DD4818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3CD35D4D-411F-4415-853B-0B93FDFCBAE7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D711ED2E-BA5E-466F-AC7D-E2077073855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Comparação com e sem RAG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F987EA0E-FA6C-4AFD-87F2-69B65ECFE90B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experimento isola o efeito do contexto documental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9CC7B24-6036-4F78-93FC-EF2CADA1B1B8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83A3B64-CB13-4A27-B9EB-A63E6EC0EF33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1914E8C-1CCA-4982-B765-0219774CD830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296D8F-E747-4689-A856-3C189A60289D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Resposta sem documentos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927FD20-500A-48AE-A16A-65C793649C7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Pode recorrer a conhecimento genérico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Tende a preencher lacunas com linguagem plausível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Não oferece rastreabilidade para o corpus da aula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Pode inventar detalhes específicos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E7A2E8E-BF1C-4977-B15E-D7A3DD83453E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87C7A6C-B707-4B8E-9BAF-8A13352CD8FA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Resposta com RAG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38D18A-5120-4EE4-B0EF-3ADFC4ABB080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Usa trechos recuperados como base factual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Expõe as fontes consultadas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Pode reconhecer evidência insuficiente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Ainda pode interpretar incorretamente o contexto</a:t>
            </a:r>
          </a:p>
        </p:txBody>
      </p:sp>
    </p:spTree>
    <p:extLst>
      <p:ext uri="{BB962C8B-B14F-4D97-AF65-F5344CB8AC3E}">
        <p14:creationId xmlns:p14="http://schemas.microsoft.com/office/powerpoint/2010/main" val="15336067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aixa-superior">
            <a:extLst>
              <a:ext uri="{FF2B5EF4-FFF2-40B4-BE49-F238E27FC236}">
                <a16:creationId xmlns:a16="http://schemas.microsoft.com/office/drawing/2014/main" id="{5503C716-6FC0-4DA8-BCBD-8020C5AD26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8143B755-EBAD-409F-8B38-75CC5C911A6C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0B7ABBBF-4CC6-4202-952C-94091EAC7BC4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Auditoria do memorando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28BB0B0F-515F-4BB4-8FC2-A6942DA93A62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Cada afirmação relevante precisa de classificação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571374-61A3-4F3A-8D78-7A879EDB1DEB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9305A2E-CF0C-4F39-B742-EDCEF3AE2EB3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55AA337-C786-47F8-970F-686D23A024D9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F0A882A-A6F9-41A7-A4D8-213AE2261C1D}"/>
              </a:ext>
            </a:extLst>
          </p:cNvPr>
          <p:cNvSpPr>
            <a:spLocks noGrp="1"/>
          </p:cNvSpPr>
          <p:nvPr/>
        </p:nvSpPr>
        <p:spPr>
          <a:xfrm>
            <a:off x="571500" y="14001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387039B-878D-4E3C-9A62-C0BA2F297E0D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citação realmente sustenta a afirmação?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CC42AF9-F0EE-4481-913B-1D573C9CA275}"/>
              </a:ext>
            </a:extLst>
          </p:cNvPr>
          <p:cNvSpPr>
            <a:spLocks noGrp="1"/>
          </p:cNvSpPr>
          <p:nvPr/>
        </p:nvSpPr>
        <p:spPr>
          <a:xfrm>
            <a:off x="6210300" y="12858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337C18A-9C8F-4A80-9B95-8AFF12FD9735}"/>
              </a:ext>
            </a:extLst>
          </p:cNvPr>
          <p:cNvSpPr>
            <a:spLocks noGrp="1"/>
          </p:cNvSpPr>
          <p:nvPr/>
        </p:nvSpPr>
        <p:spPr>
          <a:xfrm>
            <a:off x="6324600" y="14001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E4F730E-ED0E-493F-B31F-248575D53913}"/>
              </a:ext>
            </a:extLst>
          </p:cNvPr>
          <p:cNvSpPr>
            <a:spLocks noGrp="1"/>
          </p:cNvSpPr>
          <p:nvPr/>
        </p:nvSpPr>
        <p:spPr>
          <a:xfrm>
            <a:off x="6800850" y="13811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texto distingue fato de inferência?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C270C3B-61E5-49AF-8AF7-89895155D48F}"/>
              </a:ext>
            </a:extLst>
          </p:cNvPr>
          <p:cNvSpPr>
            <a:spLocks noGrp="1"/>
          </p:cNvSpPr>
          <p:nvPr/>
        </p:nvSpPr>
        <p:spPr>
          <a:xfrm>
            <a:off x="457200" y="24669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9B5BCAC-5B83-4C11-9A2D-5E4B07DD1E05}"/>
              </a:ext>
            </a:extLst>
          </p:cNvPr>
          <p:cNvSpPr>
            <a:spLocks noGrp="1"/>
          </p:cNvSpPr>
          <p:nvPr/>
        </p:nvSpPr>
        <p:spPr>
          <a:xfrm>
            <a:off x="571500" y="25812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FC4C219-7C8F-4631-A402-C9194855E78F}"/>
              </a:ext>
            </a:extLst>
          </p:cNvPr>
          <p:cNvSpPr>
            <a:spLocks noGrp="1"/>
          </p:cNvSpPr>
          <p:nvPr/>
        </p:nvSpPr>
        <p:spPr>
          <a:xfrm>
            <a:off x="1047750" y="25622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Números e datas aparecem nos documentos?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CCDEDB2-9862-4434-9228-A6FDDB661FEB}"/>
              </a:ext>
            </a:extLst>
          </p:cNvPr>
          <p:cNvSpPr>
            <a:spLocks noGrp="1"/>
          </p:cNvSpPr>
          <p:nvPr/>
        </p:nvSpPr>
        <p:spPr>
          <a:xfrm>
            <a:off x="6210300" y="24669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793E32B-6936-43A0-933D-665460FD59E4}"/>
              </a:ext>
            </a:extLst>
          </p:cNvPr>
          <p:cNvSpPr>
            <a:spLocks noGrp="1"/>
          </p:cNvSpPr>
          <p:nvPr/>
        </p:nvSpPr>
        <p:spPr>
          <a:xfrm>
            <a:off x="6324600" y="25812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552F69F-D19E-4068-ADE4-7F2A6E2E7098}"/>
              </a:ext>
            </a:extLst>
          </p:cNvPr>
          <p:cNvSpPr>
            <a:spLocks noGrp="1"/>
          </p:cNvSpPr>
          <p:nvPr/>
        </p:nvSpPr>
        <p:spPr>
          <a:xfrm>
            <a:off x="6800850" y="25622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Alguma fonte contraditória foi omitida?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5462B91-324F-403A-8A18-6CE29FBD7A63}"/>
              </a:ext>
            </a:extLst>
          </p:cNvPr>
          <p:cNvSpPr>
            <a:spLocks noGrp="1"/>
          </p:cNvSpPr>
          <p:nvPr/>
        </p:nvSpPr>
        <p:spPr>
          <a:xfrm>
            <a:off x="457200" y="36480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770B8A5-E2F8-4BCF-B927-445769142749}"/>
              </a:ext>
            </a:extLst>
          </p:cNvPr>
          <p:cNvSpPr>
            <a:spLocks noGrp="1"/>
          </p:cNvSpPr>
          <p:nvPr/>
        </p:nvSpPr>
        <p:spPr>
          <a:xfrm>
            <a:off x="571500" y="37623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3B6C3E7-5371-4E5B-8392-139E1A4B92DD}"/>
              </a:ext>
            </a:extLst>
          </p:cNvPr>
          <p:cNvSpPr>
            <a:spLocks noGrp="1"/>
          </p:cNvSpPr>
          <p:nvPr/>
        </p:nvSpPr>
        <p:spPr>
          <a:xfrm>
            <a:off x="1047750" y="37433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chunk contém contexto suficiente?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C2554BE-C0E8-4AB2-803D-3D46DFFD65DB}"/>
              </a:ext>
            </a:extLst>
          </p:cNvPr>
          <p:cNvSpPr>
            <a:spLocks noGrp="1"/>
          </p:cNvSpPr>
          <p:nvPr/>
        </p:nvSpPr>
        <p:spPr>
          <a:xfrm>
            <a:off x="6210300" y="36480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EAEC192-DD65-4096-A69E-64CD8D33FD0B}"/>
              </a:ext>
            </a:extLst>
          </p:cNvPr>
          <p:cNvSpPr>
            <a:spLocks noGrp="1"/>
          </p:cNvSpPr>
          <p:nvPr/>
        </p:nvSpPr>
        <p:spPr>
          <a:xfrm>
            <a:off x="6324600" y="37623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C044399-ED2F-454C-84AC-28C15FE04F9A}"/>
              </a:ext>
            </a:extLst>
          </p:cNvPr>
          <p:cNvSpPr>
            <a:spLocks noGrp="1"/>
          </p:cNvSpPr>
          <p:nvPr/>
        </p:nvSpPr>
        <p:spPr>
          <a:xfrm>
            <a:off x="6800850" y="37433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ausência de evidência foi declarada?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9662679-C680-4152-8D79-55D3CC4D5592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8BAB088-697A-47FF-92A4-2BB6EDAF01B2}"/>
              </a:ext>
            </a:extLst>
          </p:cNvPr>
          <p:cNvSpPr>
            <a:spLocks noGrp="1"/>
          </p:cNvSpPr>
          <p:nvPr/>
        </p:nvSpPr>
        <p:spPr>
          <a:xfrm>
            <a:off x="571500" y="49434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CE68CF4-7BFD-499C-BFEB-173EF27544DD}"/>
              </a:ext>
            </a:extLst>
          </p:cNvPr>
          <p:cNvSpPr>
            <a:spLocks noGrp="1"/>
          </p:cNvSpPr>
          <p:nvPr/>
        </p:nvSpPr>
        <p:spPr>
          <a:xfrm>
            <a:off x="1047750" y="49244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recomendação excede o suporte documental?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F6144C9-DCB5-4A85-A993-0B8B4AD8AE9F}"/>
              </a:ext>
            </a:extLst>
          </p:cNvPr>
          <p:cNvSpPr>
            <a:spLocks noGrp="1"/>
          </p:cNvSpPr>
          <p:nvPr/>
        </p:nvSpPr>
        <p:spPr>
          <a:xfrm>
            <a:off x="6210300" y="48291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CBD76BA-014E-42A3-A567-9C07DAC79207}"/>
              </a:ext>
            </a:extLst>
          </p:cNvPr>
          <p:cNvSpPr>
            <a:spLocks noGrp="1"/>
          </p:cNvSpPr>
          <p:nvPr/>
        </p:nvSpPr>
        <p:spPr>
          <a:xfrm>
            <a:off x="6324600" y="49434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BA7616C-2AA8-4ED9-A61B-620EFCB3ABBB}"/>
              </a:ext>
            </a:extLst>
          </p:cNvPr>
          <p:cNvSpPr>
            <a:spLocks noGrp="1"/>
          </p:cNvSpPr>
          <p:nvPr/>
        </p:nvSpPr>
        <p:spPr>
          <a:xfrm>
            <a:off x="6800850" y="49244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resposta sem RAG inventou detalhes adicionais?</a:t>
            </a:r>
          </a:p>
        </p:txBody>
      </p:sp>
    </p:spTree>
    <p:extLst>
      <p:ext uri="{BB962C8B-B14F-4D97-AF65-F5344CB8AC3E}">
        <p14:creationId xmlns:p14="http://schemas.microsoft.com/office/powerpoint/2010/main" val="20729218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aixa-superior">
            <a:extLst>
              <a:ext uri="{FF2B5EF4-FFF2-40B4-BE49-F238E27FC236}">
                <a16:creationId xmlns:a16="http://schemas.microsoft.com/office/drawing/2014/main" id="{59ED10F0-453B-45B7-8288-603618ADD7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108E589B-2146-4DFF-B0D3-2C1D60D5627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0486BE56-2474-49BD-A120-EB7D25621CB0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Critérios de avaliação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BCEF614A-846C-48C4-8FD1-1ABDAF38E460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produto final combina execução, método, evidência e julgamento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20AD904-1BBA-4422-ADF3-431779212BB5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F456179-D4D5-4264-96DB-0D887CA97196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F71EEA3-5420-4DEE-BED3-FF5E0DA5DD36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10858500" cy="3714750"/>
          </a:xfrm>
          <a:prstGeom prst="roundRect">
            <a:avLst>
              <a:gd name="adj" fmla="val 2051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EA4085C-AF95-4C5A-9ED2-8D9E5B0E818D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memorando permite rastrear e contestar cada conclusão?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FC380C6-7788-4F5B-9828-AB2339BEA1AA}"/>
              </a:ext>
            </a:extLst>
          </p:cNvPr>
          <p:cNvSpPr>
            <a:spLocks noGrp="1"/>
          </p:cNvSpPr>
          <p:nvPr/>
        </p:nvSpPr>
        <p:spPr>
          <a:xfrm>
            <a:off x="1714500" y="3238500"/>
            <a:ext cx="8763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Avalie a execução do notebook, a qualidade da recuperação, a fidelidade das citações, a identificação de lacunas e a prudência da recomendação.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D456783-6A4E-4C9D-8D1E-E9E6ABA8FEBD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Um sistema de RAG melhora a rastreabilidade, mas mantém o analista responsável pelo julgamento.</a:t>
            </a:r>
          </a:p>
        </p:txBody>
      </p:sp>
    </p:spTree>
    <p:extLst>
      <p:ext uri="{BB962C8B-B14F-4D97-AF65-F5344CB8AC3E}">
        <p14:creationId xmlns:p14="http://schemas.microsoft.com/office/powerpoint/2010/main" val="40521090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E8E4-2077-64CD-B651-892091F0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6CB1DAF-8B1E-3EF2-46F4-9DCB8FD38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Backup Slides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A5BC4411-2D63-5DD9-E595-4256B678D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50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DFF7A5B-FE22-077A-769F-EAB2EF081E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Gestão de </a:t>
            </a:r>
            <a:r>
              <a:rPr lang="pt-BR" dirty="0" err="1"/>
              <a:t>Portólio</a:t>
            </a:r>
            <a:r>
              <a:rPr lang="pt-BR" dirty="0"/>
              <a:t> e Estratégias de Trading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9F14F9E1-3490-69D6-71C2-47B1F3719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62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4859A020-2ECC-9418-1CC4-2FA087F9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AC8ADA7C-CB8F-F7C5-60F6-A525D482E3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CB8CA06A-AE87-978D-820A-AB3D0CAB71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1069848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1AD4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Dois exercícios aplicados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257800" cy="4251960"/>
          </a:xfrm>
          <a:prstGeom prst="roundRect">
            <a:avLst/>
          </a:prstGeom>
          <a:solidFill>
            <a:srgbClr val="EFF8EB"/>
          </a:solidFill>
          <a:ln>
            <a:solidFill>
              <a:srgbClr val="D7E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466344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  Gestão de portfólio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61772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Estimar retorno e risco, construir a fronteira eficiente e comparar carteiras em uma janela de teste.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80160"/>
            <a:ext cx="5257800" cy="4251960"/>
          </a:xfrm>
          <a:prstGeom prst="roundRect">
            <a:avLst/>
          </a:prstGeom>
          <a:solidFill>
            <a:srgbClr val="EFF8EB"/>
          </a:solidFill>
          <a:ln>
            <a:solidFill>
              <a:srgbClr val="D7E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9672" y="1627632"/>
            <a:ext cx="466344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  Estratégias de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240280"/>
            <a:ext cx="4617720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Construir sinais sem viés de antecipação, incluir custos e avaliar a robustez fora da amostra.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97880"/>
            <a:ext cx="1060704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1AD4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Entregáveis: dois notebooks executáveis, gráficos, métricas e uma recomendação justificada.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41AD48"/>
          </a:solidFill>
          <a:ln>
            <a:solidFill>
              <a:srgbClr val="41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1660171"/>
      </p:ext>
    </p:extLst>
  </p:cSld>
  <p:clrMapOvr>
    <a:masterClrMapping/>
  </p:clrMapOvr>
  <p:transition>
    <p:comb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FD1B614A-86DE-C2A1-68F7-00C4D0AF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ABC4FD0D-2EDF-5844-C929-B97A599D87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6" name="Espaço Reservado para Conteúdo 25">
            <a:extLst>
              <a:ext uri="{FF2B5EF4-FFF2-40B4-BE49-F238E27FC236}">
                <a16:creationId xmlns:a16="http://schemas.microsoft.com/office/drawing/2014/main" id="{425FA658-AB81-2D8A-C612-3CB69A9EEB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Exercício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Gestão de portfólio: retorno, risco e alocação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PORTFÓLIO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08760"/>
            <a:ext cx="4800600" cy="4343400"/>
          </a:xfrm>
          <a:prstGeom prst="round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089196"/>
            <a:ext cx="416052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Como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distribuir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o capital entre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ativos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quando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retorno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esperado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e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risco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são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incertos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C6E0E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resposta deve combinar cálculo, restrições realistas e evidência fora da amostra.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572768"/>
            <a:ext cx="160020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3912" y="1682495"/>
            <a:ext cx="127101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066543"/>
            <a:ext cx="127101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ativos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1572768"/>
            <a:ext cx="160020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18704" y="1682495"/>
            <a:ext cx="127101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066543"/>
            <a:ext cx="127101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anos simulados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8904" y="1572768"/>
            <a:ext cx="160020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83496" y="1682495"/>
            <a:ext cx="127101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2066543"/>
            <a:ext cx="127101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dias/ano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834640"/>
            <a:ext cx="5166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Retornos logarítmicos e covariância anualizada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Carteira de mínima variância e máximo Sharpe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Fronteira eficiente e comparação no período de teste</a:t>
            </a:r>
          </a:p>
        </p:txBody>
      </p:sp>
    </p:spTree>
    <p:extLst>
      <p:ext uri="{BB962C8B-B14F-4D97-AF65-F5344CB8AC3E}">
        <p14:creationId xmlns:p14="http://schemas.microsoft.com/office/powerpoint/2010/main" val="578583525"/>
      </p:ext>
    </p:extLst>
  </p:cSld>
  <p:clrMapOvr>
    <a:masterClrMapping/>
  </p:clrMapOvr>
  <p:transition>
    <p:comb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27">
            <a:extLst>
              <a:ext uri="{FF2B5EF4-FFF2-40B4-BE49-F238E27FC236}">
                <a16:creationId xmlns:a16="http://schemas.microsoft.com/office/drawing/2014/main" id="{A2A39A55-6DE9-178D-996B-7C80414B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Conteúdo 28">
            <a:extLst>
              <a:ext uri="{FF2B5EF4-FFF2-40B4-BE49-F238E27FC236}">
                <a16:creationId xmlns:a16="http://schemas.microsoft.com/office/drawing/2014/main" id="{A458821D-E482-D392-8525-7225DFB5B5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0" name="Espaço Reservado para Conteúdo 29">
            <a:extLst>
              <a:ext uri="{FF2B5EF4-FFF2-40B4-BE49-F238E27FC236}">
                <a16:creationId xmlns:a16="http://schemas.microsoft.com/office/drawing/2014/main" id="{D714FAC0-8744-1FBA-D901-415F4EDBDA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Questão de negócio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 modelo transforma uma decisão de alocação em um problema mensurável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PORTFÓLIO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8" y="1993391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68879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Universo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34639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PETR4, VALE3, ITUB4, B3SA3, WEGE3 e índice.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1874519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57016" y="1993391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68879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834639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Maximizar retorno ajustado ao risco ou reduzir volatilidade.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874519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18504" y="1993391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468879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Restrições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834639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Sem venda a descoberto e soma dos pesos igual a 100%.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1874519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79992" y="1993391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468879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834639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Estimar no treino e medir desempenho no teste.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709160"/>
            <a:ext cx="10149840" cy="804672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Pergunta central: uma carteira otimizada no passado mantém vantagem quando os pesos ficam congelados?</a:t>
            </a:r>
          </a:p>
        </p:txBody>
      </p:sp>
    </p:spTree>
    <p:extLst>
      <p:ext uri="{BB962C8B-B14F-4D97-AF65-F5344CB8AC3E}">
        <p14:creationId xmlns:p14="http://schemas.microsoft.com/office/powerpoint/2010/main" val="566071902"/>
      </p:ext>
    </p:extLst>
  </p:cSld>
  <p:clrMapOvr>
    <a:masterClrMapping/>
  </p:clrMapOvr>
  <p:transition>
    <p:comb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B207A4B1-72BC-97E4-4F09-FE70CCA1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ACB56EA1-0585-208A-5424-3FF5BB6FF8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7CA2D583-6C63-6F89-2A90-EF63B592AB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Dados e hipóteses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 notebook executa sem internet e permite substituir a simulação por preços reais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PORTFÓLIO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Preços diários correlacionados, com semente fixa para reprodutibilidade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Divisão cronológica: 70% para estimação e 30% para teste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Taxa livre de risco anual configurável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Custos de rebalanceamento tratados como extensão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554480"/>
            <a:ext cx="5074920" cy="361188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48056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Retorno e risco da carteira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68880"/>
            <a:ext cx="44805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E[Rₚ] = wᵀ 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4805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σₚ = √(wᵀ Σ 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4805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Sharpe = (E[Rₚ] − rƒ) / σₚ</a:t>
            </a:r>
          </a:p>
        </p:txBody>
      </p:sp>
    </p:spTree>
    <p:extLst>
      <p:ext uri="{BB962C8B-B14F-4D97-AF65-F5344CB8AC3E}">
        <p14:creationId xmlns:p14="http://schemas.microsoft.com/office/powerpoint/2010/main" val="1402395673"/>
      </p:ext>
    </p:extLst>
  </p:cSld>
  <p:clrMapOvr>
    <a:masterClrMapping/>
  </p:clrMapOvr>
  <p:transition>
    <p:comb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>
            <a:extLst>
              <a:ext uri="{FF2B5EF4-FFF2-40B4-BE49-F238E27FC236}">
                <a16:creationId xmlns:a16="http://schemas.microsoft.com/office/drawing/2014/main" id="{BAF81B31-83E4-791E-9B60-BB8902C1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2" name="Espaço Reservado para Conteúdo 31">
            <a:extLst>
              <a:ext uri="{FF2B5EF4-FFF2-40B4-BE49-F238E27FC236}">
                <a16:creationId xmlns:a16="http://schemas.microsoft.com/office/drawing/2014/main" id="{0B38DF2B-5EAB-B2C5-62BC-92905006C8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3" name="Espaço Reservado para Conteúdo 32">
            <a:extLst>
              <a:ext uri="{FF2B5EF4-FFF2-40B4-BE49-F238E27FC236}">
                <a16:creationId xmlns:a16="http://schemas.microsoft.com/office/drawing/2014/main" id="{1C659016-95BF-3997-6BEC-36FC204C79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Etapas do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sequência separa estimação, otimização e avaliação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PORTFÓLIO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8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Preparar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Converter preços em retornos e inspecionar correlações.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7558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04718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3862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Estimar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3862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Calcular μ e Σ somente com os dados de treino.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6748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13908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Otimizar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Resolver mínima variância e máximo Sharpe.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85939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23099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2243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Testar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2243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Aplicar pesos fixos ao período de teste.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95129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32289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1433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1433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Comparar desempenho, concentração e estabilidade.</a:t>
            </a:r>
          </a:p>
        </p:txBody>
      </p:sp>
    </p:spTree>
    <p:extLst>
      <p:ext uri="{BB962C8B-B14F-4D97-AF65-F5344CB8AC3E}">
        <p14:creationId xmlns:p14="http://schemas.microsoft.com/office/powerpoint/2010/main" val="254977356"/>
      </p:ext>
    </p:extLst>
  </p:cSld>
  <p:clrMapOvr>
    <a:masterClrMapping/>
  </p:clrMapOvr>
  <p:transition>
    <p:comb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547ED77E-7610-07A7-74F0-765BF2BB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F18A0181-B7E2-A58A-5699-83967F882E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F7BF70F2-1DA0-036B-37F3-B873B641CB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 gráficos devem sustentar a recomendação final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PORTFÓLIO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508760"/>
            <a:ext cx="3429000" cy="438912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" y="1783080"/>
            <a:ext cx="292608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Fronteira eficiente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2880360" cy="20116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Nuvem de carteiras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Mínima variância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Máximo Sharpe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08760"/>
            <a:ext cx="3429000" cy="438912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45152" y="1783080"/>
            <a:ext cx="292608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Desempenho acumulado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2880360" cy="20116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Treino separado do teste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 100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Benchmark equiponderado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508760"/>
            <a:ext cx="3429000" cy="438912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11312" y="1783080"/>
            <a:ext cx="292608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Tabela de métricas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2880360" cy="20116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Retorno anual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Volatilidade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Sharpe e drawdown</a:t>
            </a:r>
          </a:p>
        </p:txBody>
      </p:sp>
    </p:spTree>
    <p:extLst>
      <p:ext uri="{BB962C8B-B14F-4D97-AF65-F5344CB8AC3E}">
        <p14:creationId xmlns:p14="http://schemas.microsoft.com/office/powerpoint/2010/main" val="3552155179"/>
      </p:ext>
    </p:extLst>
  </p:cSld>
  <p:clrMapOvr>
    <a:masterClrMapping/>
  </p:clrMapOvr>
  <p:transition>
    <p:comb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1CB027C-047F-2E89-D55B-7A5E1DCE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F713CCA4-2651-55E2-4432-8303B1B58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Discussão do exercício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qualidade da conclusão importa tanto quanto o valor ótimo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PORTFÓLIO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Qual carteira apresentou melhor relação risco-retorno no teste?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Os pesos ficaram excessivamente concentrados?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Quanto a conclusão depende da taxa livre de risco?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A matriz de covariância estimada parece estável?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Que restrição adicional tornaria a recomendação mais realista?</a:t>
            </a:r>
          </a:p>
        </p:txBody>
      </p:sp>
    </p:spTree>
    <p:extLst>
      <p:ext uri="{BB962C8B-B14F-4D97-AF65-F5344CB8AC3E}">
        <p14:creationId xmlns:p14="http://schemas.microsoft.com/office/powerpoint/2010/main" val="241193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7F5A69B4-204B-1A2A-62C8-E9EB0BC6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4A09AE56-61CB-B1B7-3A48-67928FCBC0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6" name="Espaço Reservado para Conteúdo 25">
            <a:extLst>
              <a:ext uri="{FF2B5EF4-FFF2-40B4-BE49-F238E27FC236}">
                <a16:creationId xmlns:a16="http://schemas.microsoft.com/office/drawing/2014/main" id="{0D84FFB8-1B44-9E3B-269F-2123AC8977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Exercício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Estratégias de trading: sinais, custos e validação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08760"/>
            <a:ext cx="4800600" cy="4343400"/>
          </a:xfrm>
          <a:prstGeom prst="round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041490"/>
            <a:ext cx="416052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Uma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regra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simples de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médias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móveis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produz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retorno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ajustado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risco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depois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dos custos?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4160520" cy="11430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C6E0E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 exercício evidencia viés de antecipação, ajuste excessivo e sensibilidade dos parâmetros.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572768"/>
            <a:ext cx="160020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3912" y="1682495"/>
            <a:ext cx="127101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066543"/>
            <a:ext cx="127101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1572768"/>
            <a:ext cx="160020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18704" y="1682495"/>
            <a:ext cx="127101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066543"/>
            <a:ext cx="127101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estratégias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8904" y="1572768"/>
            <a:ext cx="160020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83496" y="1682495"/>
            <a:ext cx="127101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 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2066543"/>
            <a:ext cx="127101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custo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834640"/>
            <a:ext cx="5166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Cruzamento de médias móveis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Momentum com janela configurável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232D37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Buy and hold como referência</a:t>
            </a:r>
          </a:p>
        </p:txBody>
      </p:sp>
    </p:spTree>
    <p:extLst>
      <p:ext uri="{BB962C8B-B14F-4D97-AF65-F5344CB8AC3E}">
        <p14:creationId xmlns:p14="http://schemas.microsoft.com/office/powerpoint/2010/main" val="1263067801"/>
      </p:ext>
    </p:extLst>
  </p:cSld>
  <p:clrMapOvr>
    <a:masterClrMapping/>
  </p:clrMapOvr>
  <p:transition>
    <p:comb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31">
            <a:extLst>
              <a:ext uri="{FF2B5EF4-FFF2-40B4-BE49-F238E27FC236}">
                <a16:creationId xmlns:a16="http://schemas.microsoft.com/office/drawing/2014/main" id="{73A3D1C6-CD75-3548-A7A9-E052DF35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3" name="Espaço Reservado para Conteúdo 32">
            <a:extLst>
              <a:ext uri="{FF2B5EF4-FFF2-40B4-BE49-F238E27FC236}">
                <a16:creationId xmlns:a16="http://schemas.microsoft.com/office/drawing/2014/main" id="{AA3B2B06-250C-51C3-BC3E-922F8B0210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4" name="Espaço Reservado para Conteúdo 33">
            <a:extLst>
              <a:ext uri="{FF2B5EF4-FFF2-40B4-BE49-F238E27FC236}">
                <a16:creationId xmlns:a16="http://schemas.microsoft.com/office/drawing/2014/main" id="{F7CC9A6E-A308-305E-AF05-B2CDB995B5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 regra ao 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Cada decisão precisa usar apenas informações disponíveis naquele instante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8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Construir uma série diária com regimes de mercado.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7558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04718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3862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3862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Comparar média curta e média longa.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6748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13908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Defasagem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Aplicar hoje o sinal calculado até ontem.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85939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23099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2243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2243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Cobrar cada mudança de posição.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95129" y="1828800"/>
            <a:ext cx="2044598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32289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1433" y="2423160"/>
            <a:ext cx="175199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Avaliação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1433" y="2788920"/>
            <a:ext cx="1751990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Separar treino e teste cronologicamente.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773168"/>
            <a:ext cx="10241280" cy="74980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Posiçãoₜ = sinalₜ₋₁. Esta defasagem elimina o uso acidental do retorno do próprio dia.</a:t>
            </a:r>
          </a:p>
        </p:txBody>
      </p:sp>
    </p:spTree>
    <p:extLst>
      <p:ext uri="{BB962C8B-B14F-4D97-AF65-F5344CB8AC3E}">
        <p14:creationId xmlns:p14="http://schemas.microsoft.com/office/powerpoint/2010/main" val="4123126003"/>
      </p:ext>
    </p:extLst>
  </p:cSld>
  <p:clrMapOvr>
    <a:masterClrMapping/>
  </p:clrMapOvr>
  <p:transition>
    <p:comb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575E284D-6D26-6F44-6BA3-4DA235E4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DBC272E7-F380-C5C3-EE65-81FD703228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6" name="Espaço Reservado para Conteúdo 25">
            <a:extLst>
              <a:ext uri="{FF2B5EF4-FFF2-40B4-BE49-F238E27FC236}">
                <a16:creationId xmlns:a16="http://schemas.microsoft.com/office/drawing/2014/main" id="{9199C0C1-E1FF-DF0B-C379-E8C7367739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Métricas do 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Retorno isolado não descreve a qualidade de uma estratégia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554480"/>
            <a:ext cx="246888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1664207"/>
            <a:ext cx="213969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(1 + R)²⁵²⁄ⁿ − 1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048256"/>
            <a:ext cx="213969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retorno anualizado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554480"/>
            <a:ext cx="246888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39312" y="1664207"/>
            <a:ext cx="213969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σ diária × √252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48256"/>
            <a:ext cx="213969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volatilidade anual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554480"/>
            <a:ext cx="246888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91072" y="1664207"/>
            <a:ext cx="213969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(R − rƒ) / 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48256"/>
            <a:ext cx="213969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índice de Sharpe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554480"/>
            <a:ext cx="2468880" cy="932688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42832" y="1664207"/>
            <a:ext cx="2139696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mínimo de V/Vmáx − 1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048256"/>
            <a:ext cx="2139696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máximo drawdown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3063240"/>
            <a:ext cx="10195560" cy="196596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Custos de transação mudam a pergunta. Uma estratégia ativa precisa superar o benchmark depois de pagar pelas alterações de posição. O notebook mostra o resultado bruto e o resultado líquido.</a:t>
            </a:r>
          </a:p>
        </p:txBody>
      </p:sp>
    </p:spTree>
    <p:extLst>
      <p:ext uri="{BB962C8B-B14F-4D97-AF65-F5344CB8AC3E}">
        <p14:creationId xmlns:p14="http://schemas.microsoft.com/office/powerpoint/2010/main" val="1635168293"/>
      </p:ext>
    </p:extLst>
  </p:cSld>
  <p:clrMapOvr>
    <a:masterClrMapping/>
  </p:clrMapOvr>
  <p:transition>
    <p:comb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AD73CC17-A41D-9A76-6082-2F210D99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CB9EE4B2-D3F8-35FD-4D7A-29C4CEB740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F6EB9872-7180-A307-23A5-B6B8D72FC6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Seleção de parâmetros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busca ocorre no treino; o teste permanece intocado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508760"/>
            <a:ext cx="4983480" cy="434340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783080"/>
            <a:ext cx="443484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Grade de médias móveis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23160"/>
            <a:ext cx="4434840" cy="23317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Curta: 5, 10, 20, 30 dias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Longa: 50, 100, 150, 200 dias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Critério: Sharpe líquido no treino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4983480" cy="4343400"/>
          </a:xfrm>
          <a:prstGeom prst="round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438912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Regra de avaliação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4389120" cy="23317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Escolher uma combinação no treino.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Congelar os parâmetros.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Medir uma única vez no teste.</a:t>
            </a:r>
          </a:p>
        </p:txBody>
      </p:sp>
    </p:spTree>
    <p:extLst>
      <p:ext uri="{BB962C8B-B14F-4D97-AF65-F5344CB8AC3E}">
        <p14:creationId xmlns:p14="http://schemas.microsoft.com/office/powerpoint/2010/main" val="597075585"/>
      </p:ext>
    </p:extLst>
  </p:cSld>
  <p:clrMapOvr>
    <a:masterClrMapping/>
  </p:clrMapOvr>
  <p:transition>
    <p:comb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DA06A21E-5DD0-339B-034E-8D4B3839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71E04756-5912-674D-979E-CCA63F4E30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E8C80193-C748-150A-82E8-4715436D2C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Diagnósticos visuais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 gráficos ajudam a distinguir desempenho de acaso e ajuste excessivo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3429000" cy="448056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28803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Preço e médias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2880360" cy="2103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Sinal de entrada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Sinal de saída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Mudanças de regime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429000" cy="448056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1783080"/>
            <a:ext cx="28803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Curva de patrimônio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2880360" cy="2103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Estratégia bruta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Estratégia líquida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Buy and 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463040"/>
            <a:ext cx="3429000" cy="448056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320" y="1783080"/>
            <a:ext cx="28803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Mapa de parâmetros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68880"/>
            <a:ext cx="2880360" cy="2103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Sharpe no treino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Sensibilidade local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A548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Combinação escolhida</a:t>
            </a:r>
          </a:p>
        </p:txBody>
      </p:sp>
    </p:spTree>
    <p:extLst>
      <p:ext uri="{BB962C8B-B14F-4D97-AF65-F5344CB8AC3E}">
        <p14:creationId xmlns:p14="http://schemas.microsoft.com/office/powerpoint/2010/main" val="375774658"/>
      </p:ext>
    </p:extLst>
  </p:cSld>
  <p:clrMapOvr>
    <a:masterClrMapping/>
  </p:clrMapOvr>
  <p:transition>
    <p:comb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FD1504DC-F4FF-CFB1-AE3A-46CCD27D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71CE6C0C-2151-4A7D-4DE1-DC07943221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3941EA42-0242-0E59-B244-95F59970EA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Discussão do exercício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Uma estratégia aceitável precisa sobreviver a hipóteses menos favoráveis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O desempenho permanece positivo no teste e depois dos custos?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O melhor ponto do treino fica em uma região estável da grade?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Quantas operações a regra exige e qual custo implícito ela suporta?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O resultado vem de poucos períodos excepcionais?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232D37"/>
                </a:solidFill>
                <a:latin typeface="Aptos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Que risco operacional ou de liquidez o backtest ignora?</a:t>
            </a:r>
          </a:p>
        </p:txBody>
      </p:sp>
    </p:spTree>
    <p:extLst>
      <p:ext uri="{BB962C8B-B14F-4D97-AF65-F5344CB8AC3E}">
        <p14:creationId xmlns:p14="http://schemas.microsoft.com/office/powerpoint/2010/main" val="88948369"/>
      </p:ext>
    </p:extLst>
  </p:cSld>
  <p:clrMapOvr>
    <a:masterClrMapping/>
  </p:clrMapOvr>
  <p:transition>
    <p:comb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27">
            <a:extLst>
              <a:ext uri="{FF2B5EF4-FFF2-40B4-BE49-F238E27FC236}">
                <a16:creationId xmlns:a16="http://schemas.microsoft.com/office/drawing/2014/main" id="{55235957-7039-891F-7427-B4746D5C7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Conteúdo 28">
            <a:extLst>
              <a:ext uri="{FF2B5EF4-FFF2-40B4-BE49-F238E27FC236}">
                <a16:creationId xmlns:a16="http://schemas.microsoft.com/office/drawing/2014/main" id="{D9FFEECB-C3AF-0DF3-DEBF-68A2D2655F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0" name="Espaço Reservado para Conteúdo 29">
            <a:extLst>
              <a:ext uri="{FF2B5EF4-FFF2-40B4-BE49-F238E27FC236}">
                <a16:creationId xmlns:a16="http://schemas.microsoft.com/office/drawing/2014/main" id="{DBE4DF99-71B0-DE4B-53AA-F0B7AE1DE9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Entrega e critérios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 dois notebooks devem permitir reprodução e crítica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2C4E"/>
          </a:solidFill>
          <a:ln>
            <a:solidFill>
              <a:srgbClr val="08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0" y="6428232"/>
            <a:ext cx="10972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ENCERRAMENTO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8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23160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Todas as células rodam em ordem e produzem resultados.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1828800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57016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23160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Método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88920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Hipóteses, janela de teste e métricas estão explícitas.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828800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18504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423160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788920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Gráficos e tabelas sustentam a conclusão.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1828800"/>
            <a:ext cx="2596896" cy="1874519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79992" y="1947672"/>
            <a:ext cx="411480" cy="384048"/>
          </a:xfrm>
          <a:prstGeom prst="roundRect">
            <a:avLst/>
          </a:prstGeom>
          <a:solidFill>
            <a:srgbClr val="0A5487"/>
          </a:solidFill>
          <a:ln>
            <a:solidFill>
              <a:srgbClr val="0A5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423160"/>
            <a:ext cx="2304288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Julgamento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788920"/>
            <a:ext cx="2304288" cy="6949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5D697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recomendação reconhece limitações e riscos.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736592"/>
            <a:ext cx="10332720" cy="822960"/>
          </a:xfrm>
          <a:prstGeom prst="roundRect">
            <a:avLst/>
          </a:prstGeom>
          <a:solidFill>
            <a:srgbClr val="EBF5FA"/>
          </a:solidFill>
          <a:ln>
            <a:solidFill>
              <a:srgbClr val="EB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82C4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Síntese final: qual decisão você recomendaria, com quais condições e qual evidência poderia fazê-lo mudar de opinião?</a:t>
            </a:r>
          </a:p>
        </p:txBody>
      </p:sp>
    </p:spTree>
    <p:extLst>
      <p:ext uri="{BB962C8B-B14F-4D97-AF65-F5344CB8AC3E}">
        <p14:creationId xmlns:p14="http://schemas.microsoft.com/office/powerpoint/2010/main" val="2907280378"/>
      </p:ext>
    </p:extLst>
  </p:cSld>
  <p:clrMapOvr>
    <a:masterClrMapping/>
  </p:clrMapOvr>
  <p:transition>
    <p:comb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56D2DD9-8451-4633-9413-2A3248F987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BF2C2E-5A4F-4AD5-B53A-832950372BB8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442699-BBA5-4942-96F9-38AB11359448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71450" cy="3886200"/>
          </a:xfrm>
          <a:prstGeom prst="rect">
            <a:avLst/>
          </a:prstGeom>
          <a:solidFill>
            <a:srgbClr val="2C95DD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0F714E-E535-4DBC-9831-16393D972CE0}"/>
              </a:ext>
            </a:extLst>
          </p:cNvPr>
          <p:cNvSpPr>
            <a:spLocks noGrp="1"/>
          </p:cNvSpPr>
          <p:nvPr/>
        </p:nvSpPr>
        <p:spPr>
          <a:xfrm>
            <a:off x="952500" y="112395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644059-BF5E-458E-88E5-AB79BBD5A6B9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9810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3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estratégia maravilhosa que não existe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70EA3B-830E-48EE-8F80-570A56AF8B94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93345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Auditoria de um pipeline aparentemente extraordinário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C55B3A5-AF39-44AD-B582-AE59CC123081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8096250" cy="876300"/>
          </a:xfrm>
          <a:prstGeom prst="roundRect">
            <a:avLst>
              <a:gd name="adj" fmla="val 8696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95EC893-5707-4BD7-B29B-B700A4AFCFF4}"/>
              </a:ext>
            </a:extLst>
          </p:cNvPr>
          <p:cNvSpPr>
            <a:spLocks noGrp="1"/>
          </p:cNvSpPr>
          <p:nvPr/>
        </p:nvSpPr>
        <p:spPr>
          <a:xfrm>
            <a:off x="1181100" y="4400550"/>
            <a:ext cx="76390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desempenho representa capacidade preditiva ou contaminação metodológica?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E598EA-DA2F-49A9-AAD4-2A4875655FDB}"/>
              </a:ext>
            </a:extLst>
          </p:cNvPr>
          <p:cNvSpPr>
            <a:spLocks noGrp="1"/>
          </p:cNvSpPr>
          <p:nvPr/>
        </p:nvSpPr>
        <p:spPr>
          <a:xfrm>
            <a:off x="952500" y="58578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IA Aplicada à Gestão de Investimentos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341FCE-35DD-43E7-974C-B4A83A17CE36}"/>
              </a:ext>
            </a:extLst>
          </p:cNvPr>
          <p:cNvSpPr>
            <a:spLocks noGrp="1"/>
          </p:cNvSpPr>
          <p:nvPr/>
        </p:nvSpPr>
        <p:spPr>
          <a:xfrm>
            <a:off x="9620250" y="5857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</p:spTree>
    <p:extLst>
      <p:ext uri="{BB962C8B-B14F-4D97-AF65-F5344CB8AC3E}">
        <p14:creationId xmlns:p14="http://schemas.microsoft.com/office/powerpoint/2010/main" val="5741085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8BB8D3C9-9346-4FA5-B2E9-61EDFE413B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B5F6D370-290B-4688-8818-50ADBDF319B7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60B9EA1C-8AC8-433C-BCBB-77638EA2DF6C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Objetivo e resultado da aula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A5791C53-E829-472C-89BD-4ED93C8BDDCB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regressão logística funciona apenas como objeto da auditoria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31A102-02D4-4FE7-944F-9266AEFB362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41A3B4-5D42-49A1-8F59-7520DE0C60E9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9BBD62-8211-4378-B72E-56968B4B0BC6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5238750" cy="4333875"/>
          </a:xfrm>
          <a:prstGeom prst="roundRect">
            <a:avLst>
              <a:gd name="adj" fmla="val 175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1B3BF6-608C-4322-966E-3A1A562E875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Aprendizagem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FE70BC0-58C6-4EFE-849A-73A7A8EF1853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501015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Reconhecer vazamento de informação e divisão temporal inadequada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Relacionar o relógio da decisão ao preço de execução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32D37"/>
                </a:solidFill>
                <a:latin typeface="Aptos"/>
                <a:ea typeface="Aptos"/>
                <a:cs typeface="Aptos"/>
              </a:rPr>
              <a:t>Distinguir bom ajuste estatístico de evidência econômica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8A23A1C-5C5C-4BD3-B6EE-E7D1428B955A}"/>
              </a:ext>
            </a:extLst>
          </p:cNvPr>
          <p:cNvSpPr>
            <a:spLocks noGrp="1"/>
          </p:cNvSpPr>
          <p:nvPr/>
        </p:nvSpPr>
        <p:spPr>
          <a:xfrm>
            <a:off x="5981700" y="1381125"/>
            <a:ext cx="5753100" cy="4333875"/>
          </a:xfrm>
          <a:prstGeom prst="roundRect">
            <a:avLst>
              <a:gd name="adj" fmla="val 1758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A3ECC45-C597-4FB4-8391-1EA1EAD476F0}"/>
              </a:ext>
            </a:extLst>
          </p:cNvPr>
          <p:cNvSpPr>
            <a:spLocks noGrp="1"/>
          </p:cNvSpPr>
          <p:nvPr/>
        </p:nvSpPr>
        <p:spPr>
          <a:xfrm>
            <a:off x="6134100" y="1495425"/>
            <a:ext cx="544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do grupo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3F1AA9-11C4-4C02-8194-B26CB864B8E7}"/>
              </a:ext>
            </a:extLst>
          </p:cNvPr>
          <p:cNvSpPr>
            <a:spLocks noGrp="1"/>
          </p:cNvSpPr>
          <p:nvPr/>
        </p:nvSpPr>
        <p:spPr>
          <a:xfrm>
            <a:off x="6134100" y="1857375"/>
            <a:ext cx="5448300" cy="3743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 parecer de auditoria com diagnóstico das falhas, reconstrução do alvo executável e decisão sobre a implantação da estratégia.</a:t>
            </a:r>
          </a:p>
        </p:txBody>
      </p:sp>
    </p:spTree>
    <p:extLst>
      <p:ext uri="{BB962C8B-B14F-4D97-AF65-F5344CB8AC3E}">
        <p14:creationId xmlns:p14="http://schemas.microsoft.com/office/powerpoint/2010/main" val="32678248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7D0AA69A-3CB1-406A-BFBE-389E0FD99C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0C972171-760D-4BCD-8908-DD67F7DAFF0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07905DDA-EDA9-4D00-B3DF-B492441C9160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O caso da consultoria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554E771E-A22A-4C57-BD91-B9F272104285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Uma base pronta, um resultado excepcional e pouca documentação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BA91687-AA0C-4D90-B85A-18EB6E8BEA8D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B5C877-073C-4E92-BFFD-3D158BC2AF15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BC5EED4-7139-49D6-9D5D-2D55901711D6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CA28DB-B541-4C44-A634-86489098F674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Promessa recebida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173A61F-223F-4807-B11A-665ED20B9922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Sinal diário para BOVA11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Acurácia e AUC elevadas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Curva de patrimônio quase contínua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Implantação sugerida com limiar de 0,50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FA8AF07-F1C6-4350-92EF-2866FF4B7B1D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ECE52E9-2D29-47DF-A08F-43342897E467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Pergunta de negócio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7C577E-A5D2-4FE9-87A2-2926E89A9EAE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53149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gestora deve autorizar capital real antes de compreender como a base, o alvo, a divisão e o backtest foram construídos?</a:t>
            </a:r>
          </a:p>
        </p:txBody>
      </p:sp>
    </p:spTree>
    <p:extLst>
      <p:ext uri="{BB962C8B-B14F-4D97-AF65-F5344CB8AC3E}">
        <p14:creationId xmlns:p14="http://schemas.microsoft.com/office/powerpoint/2010/main" val="8930068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F248C7AD-D972-49BF-BBB8-02A876D16A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A2BC55F-67C9-401D-9A7E-33B855D55FC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46AF4CAD-3A01-4BBD-858C-5206295E433A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Pipeline recebido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498595BC-403F-4C50-8F5E-F6836510B4A9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aparência de ordem esconde decisões metodológicas críticas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EE4CFA2-A318-490C-A460-F8CC1055D37B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7E9D9B-7616-4E13-9412-CE0D8E25D6AC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58EA65A-E4B4-4F91-9CD5-E6B333B33E6B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20CA97C-F9A9-47E2-90D4-A521877F963C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7D68D9-9822-4E46-AE42-D5D2D99A1FCE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A51E1E-E7A8-4EDB-BB49-E4E13F72486F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Base pronta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E4716FA-1C2C-4DFF-9423-B89878E9996B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Atributos legítimos aparecem misturados a variáveis contaminadas.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B6424BE-52F1-42E5-AFAC-1BD3EDE4424A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A8CBA5C-C731-4247-9E7E-93EC15BE235A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D69940E-FFDA-47C0-830F-2C075707F3D3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D53B846-FF42-4049-8563-E8ECC0705B54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Divisão aleatória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D7F688C-AC20-4153-A7C4-0E9DAA7CECC1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Observações antigas e recentes entram simultaneamente no treino e no teste.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0DE7E7-A18C-4279-B0C8-13D37CDD434D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DE1DFEF-1C84-4F31-889B-F8112DBC3C17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42EC2B8-324F-440E-9198-639C5ACC6C1E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CAA4AE1-69DF-4B85-8453-4046472FA1BB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D859363-FD95-4AB4-92CA-447CC3FAB5FC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regressão logística aprende relações que não estariam disponíveis em produção.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79262AE-DBF2-4620-9E66-776DC8F16740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66E8F8F-7A6E-4172-90B3-C1AB3AE56507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37AEE11-C4BD-442B-839F-CC838B68EDF6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DCF5981-35BF-4393-94C4-3754FA57B61D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Backtest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8C9808A-1386-4484-B2AA-672987EEEA60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sinal usa retorno futuro, sem custo e com execução incompatível com o relógio.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76D6770-A19E-454F-A26B-73EE7995E277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8C2917D-D261-463F-BAF5-B57D75535671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Um pipeline pode ser reproduzível e ainda assim medir uma capacidade inexistente.</a:t>
            </a:r>
          </a:p>
        </p:txBody>
      </p:sp>
    </p:spTree>
    <p:extLst>
      <p:ext uri="{BB962C8B-B14F-4D97-AF65-F5344CB8AC3E}">
        <p14:creationId xmlns:p14="http://schemas.microsoft.com/office/powerpoint/2010/main" val="822016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2EFFB814-3093-4018-BB4E-DF8DAFE644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2F251338-9AE0-447E-B8B0-148A998D85AA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2D3D1B4F-653A-4778-A280-393A8CCDCE8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divisão aleatória rompe o tempo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22866C81-0D1E-4630-8F5E-8796838117CD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treino pode conter 2025 enquanto o teste contém 2015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F0C5759-3426-4FBF-B2E4-9171DD5BAD27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ED4AFC3-B3C2-4B02-BDEC-C486D8535F6A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90B709D-C61E-41E1-8C8B-E8F33ED97295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810292-4DB0-4387-807F-78E3B6ED739C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split_errado &lt;- initial_split(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dados_consultoria,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prop = 0.80,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strata = supera_selic_d1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treino_errado &lt;- training(split_errado)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teste_errado  &lt;- testing(split_errado)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C142AF5-9289-4247-BEB6-BB153FF3B0FA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8EEDBD-98CC-4965-BEB0-1AFEDD0F349C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Consequência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8DDEEA9-8BF8-4417-94AC-0FFAEDBB48CD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O modelo aprende regimes posteriores ao período avaliado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A avaliação deixa de representar uma implantação no tempo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A estratificação preserva classes, mas não preserva causalidade temporal</a:t>
            </a:r>
          </a:p>
        </p:txBody>
      </p:sp>
    </p:spTree>
    <p:extLst>
      <p:ext uri="{BB962C8B-B14F-4D97-AF65-F5344CB8AC3E}">
        <p14:creationId xmlns:p14="http://schemas.microsoft.com/office/powerpoint/2010/main" val="30660345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267E2F7B-623A-4C08-82BF-1615A91B3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5E4EF13E-00AC-4AAD-8E81-42FB618E8C0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EE271140-162C-4E24-A73A-E56B46C6BFDB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Variáveis contaminadas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14F9F3CB-7219-4A28-9809-795C2B771D9F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Algumas colunas incorporam informação do futuro ou da amostra completa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4E1BDE-9022-468B-98A0-96481F822C62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204EA1-24F0-4FC6-AC55-D07BFB4FC1A5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2603289-6F43-4BFA-B13A-E7D520BDA567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BEF3F7-FEEA-4FA6-AFD4-D9015446C40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Vazamento direto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FCD18AB-A6E5-4025-8C57-39B83E27BA0C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momentum_curto replica o retorno futuro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sinal_externo deriva do alvo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pressao_compradora antecipa informação indisponível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53507BC-C473-4E95-A77D-1098A8A46FA8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C616648-6C15-4686-9950-B98EBE1B486E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Vazamento indireto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777ACCE-F1BE-4F18-AC7E-D350387CBCC6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zscore_fechamento_global usa toda a série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volatilidade_centrada_20d inclui observações posteriores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normalização global altera a distribuição do treino</a:t>
            </a:r>
          </a:p>
        </p:txBody>
      </p:sp>
    </p:spTree>
    <p:extLst>
      <p:ext uri="{BB962C8B-B14F-4D97-AF65-F5344CB8AC3E}">
        <p14:creationId xmlns:p14="http://schemas.microsoft.com/office/powerpoint/2010/main" val="36750740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aixa-superior">
            <a:extLst>
              <a:ext uri="{FF2B5EF4-FFF2-40B4-BE49-F238E27FC236}">
                <a16:creationId xmlns:a16="http://schemas.microsoft.com/office/drawing/2014/main" id="{7D57F4CE-7083-438A-9950-CBD964C19E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DCEC3FC0-2868-414F-BE11-1D1CB963EE3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21ABC0AF-2C27-4978-B6D2-4E720D4106EB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Checklist de auditoria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0550CBE5-5B92-4FBE-A24B-6DBB0B00166C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Classificação sugerida: OK, suspeito, inviável ou não verificado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7A907BA-76CF-498C-AD06-E5157AFC5EB5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7AC6DD-ABF6-4072-AA67-EA3248396721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1F247E6-607C-4D0E-BAC3-BA0CF34EF91D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1C2394-4775-4C42-AC1E-7503B2EE2784}"/>
              </a:ext>
            </a:extLst>
          </p:cNvPr>
          <p:cNvSpPr>
            <a:spLocks noGrp="1"/>
          </p:cNvSpPr>
          <p:nvPr/>
        </p:nvSpPr>
        <p:spPr>
          <a:xfrm>
            <a:off x="571500" y="14001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DB40A2-A79C-4739-917A-CEF453EB031D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Cada preditor existia no instante da decisão?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2A4A11-2E32-4D8B-9644-2BD74D0C0F75}"/>
              </a:ext>
            </a:extLst>
          </p:cNvPr>
          <p:cNvSpPr>
            <a:spLocks noGrp="1"/>
          </p:cNvSpPr>
          <p:nvPr/>
        </p:nvSpPr>
        <p:spPr>
          <a:xfrm>
            <a:off x="6210300" y="12858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1543DF-F5AF-455D-8270-D4DCEC947CC2}"/>
              </a:ext>
            </a:extLst>
          </p:cNvPr>
          <p:cNvSpPr>
            <a:spLocks noGrp="1"/>
          </p:cNvSpPr>
          <p:nvPr/>
        </p:nvSpPr>
        <p:spPr>
          <a:xfrm>
            <a:off x="6324600" y="14001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5FED918-DF59-4E75-BBE1-C715FA45D515}"/>
              </a:ext>
            </a:extLst>
          </p:cNvPr>
          <p:cNvSpPr>
            <a:spLocks noGrp="1"/>
          </p:cNvSpPr>
          <p:nvPr/>
        </p:nvSpPr>
        <p:spPr>
          <a:xfrm>
            <a:off x="6800850" y="13811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alvo apareceu direta ou indiretamente entre os atributos?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A96B2DF-FB45-4FC7-A9B7-8697E428BC1B}"/>
              </a:ext>
            </a:extLst>
          </p:cNvPr>
          <p:cNvSpPr>
            <a:spLocks noGrp="1"/>
          </p:cNvSpPr>
          <p:nvPr/>
        </p:nvSpPr>
        <p:spPr>
          <a:xfrm>
            <a:off x="457200" y="24669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5B7E640-0BF9-4842-8315-68867C10A0C3}"/>
              </a:ext>
            </a:extLst>
          </p:cNvPr>
          <p:cNvSpPr>
            <a:spLocks noGrp="1"/>
          </p:cNvSpPr>
          <p:nvPr/>
        </p:nvSpPr>
        <p:spPr>
          <a:xfrm>
            <a:off x="571500" y="25812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1643D1F-5D7D-4404-8596-129B83368A31}"/>
              </a:ext>
            </a:extLst>
          </p:cNvPr>
          <p:cNvSpPr>
            <a:spLocks noGrp="1"/>
          </p:cNvSpPr>
          <p:nvPr/>
        </p:nvSpPr>
        <p:spPr>
          <a:xfrm>
            <a:off x="1047750" y="25622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pré-processamento foi estimado somente no treino?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0C4552D-FC80-41F9-B239-9B9B6C654CEB}"/>
              </a:ext>
            </a:extLst>
          </p:cNvPr>
          <p:cNvSpPr>
            <a:spLocks noGrp="1"/>
          </p:cNvSpPr>
          <p:nvPr/>
        </p:nvSpPr>
        <p:spPr>
          <a:xfrm>
            <a:off x="6210300" y="24669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9957674-AF83-490F-ABF7-5ABBA4A4A984}"/>
              </a:ext>
            </a:extLst>
          </p:cNvPr>
          <p:cNvSpPr>
            <a:spLocks noGrp="1"/>
          </p:cNvSpPr>
          <p:nvPr/>
        </p:nvSpPr>
        <p:spPr>
          <a:xfrm>
            <a:off x="6324600" y="25812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33BF540-B5AA-4D40-8501-DFD8306AB6C6}"/>
              </a:ext>
            </a:extLst>
          </p:cNvPr>
          <p:cNvSpPr>
            <a:spLocks noGrp="1"/>
          </p:cNvSpPr>
          <p:nvPr/>
        </p:nvSpPr>
        <p:spPr>
          <a:xfrm>
            <a:off x="6800850" y="25622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divisão respeitou a ordem temporal?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3128C0F-1A6A-49E5-AF01-FE0AC16C9E53}"/>
              </a:ext>
            </a:extLst>
          </p:cNvPr>
          <p:cNvSpPr>
            <a:spLocks noGrp="1"/>
          </p:cNvSpPr>
          <p:nvPr/>
        </p:nvSpPr>
        <p:spPr>
          <a:xfrm>
            <a:off x="457200" y="36480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3A55FA2-3F81-4EFC-BD92-4E2163391774}"/>
              </a:ext>
            </a:extLst>
          </p:cNvPr>
          <p:cNvSpPr>
            <a:spLocks noGrp="1"/>
          </p:cNvSpPr>
          <p:nvPr/>
        </p:nvSpPr>
        <p:spPr>
          <a:xfrm>
            <a:off x="571500" y="37623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DEDC3DA-AD0F-4E3C-A637-D8826FCE33D5}"/>
              </a:ext>
            </a:extLst>
          </p:cNvPr>
          <p:cNvSpPr>
            <a:spLocks noGrp="1"/>
          </p:cNvSpPr>
          <p:nvPr/>
        </p:nvSpPr>
        <p:spPr>
          <a:xfrm>
            <a:off x="1047750" y="37433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preço de execução poderia ser obtido?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A7EF7A6-B7F0-42AE-A6A3-3A2761E521CB}"/>
              </a:ext>
            </a:extLst>
          </p:cNvPr>
          <p:cNvSpPr>
            <a:spLocks noGrp="1"/>
          </p:cNvSpPr>
          <p:nvPr/>
        </p:nvSpPr>
        <p:spPr>
          <a:xfrm>
            <a:off x="6210300" y="36480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50E1597-F435-4B7D-8A3A-1916EDC60E30}"/>
              </a:ext>
            </a:extLst>
          </p:cNvPr>
          <p:cNvSpPr>
            <a:spLocks noGrp="1"/>
          </p:cNvSpPr>
          <p:nvPr/>
        </p:nvSpPr>
        <p:spPr>
          <a:xfrm>
            <a:off x="6324600" y="37623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F766752-59AD-4319-95E0-4A287D2D1515}"/>
              </a:ext>
            </a:extLst>
          </p:cNvPr>
          <p:cNvSpPr>
            <a:spLocks noGrp="1"/>
          </p:cNvSpPr>
          <p:nvPr/>
        </p:nvSpPr>
        <p:spPr>
          <a:xfrm>
            <a:off x="6800850" y="37433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limiar foi escolhido fora do teste?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0A80571-FC37-40F6-8778-B56D3CD8D6A2}"/>
              </a:ext>
            </a:extLst>
          </p:cNvPr>
          <p:cNvSpPr>
            <a:spLocks noGrp="1"/>
          </p:cNvSpPr>
          <p:nvPr/>
        </p:nvSpPr>
        <p:spPr>
          <a:xfrm>
            <a:off x="457200" y="48291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A07F1EE-D159-4332-B308-F15DCE06AEFF}"/>
              </a:ext>
            </a:extLst>
          </p:cNvPr>
          <p:cNvSpPr>
            <a:spLocks noGrp="1"/>
          </p:cNvSpPr>
          <p:nvPr/>
        </p:nvSpPr>
        <p:spPr>
          <a:xfrm>
            <a:off x="571500" y="49434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92D71BD-CD94-4BE8-832C-6C0A0E358061}"/>
              </a:ext>
            </a:extLst>
          </p:cNvPr>
          <p:cNvSpPr>
            <a:spLocks noGrp="1"/>
          </p:cNvSpPr>
          <p:nvPr/>
        </p:nvSpPr>
        <p:spPr>
          <a:xfrm>
            <a:off x="1047750" y="49244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Custos e mudanças de posição entraram no resultado?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A2E66EB-7E49-4211-AB80-E65891F9B228}"/>
              </a:ext>
            </a:extLst>
          </p:cNvPr>
          <p:cNvSpPr>
            <a:spLocks noGrp="1"/>
          </p:cNvSpPr>
          <p:nvPr/>
        </p:nvSpPr>
        <p:spPr>
          <a:xfrm>
            <a:off x="6210300" y="4829175"/>
            <a:ext cx="5524500" cy="1028700"/>
          </a:xfrm>
          <a:prstGeom prst="roundRect">
            <a:avLst>
              <a:gd name="adj" fmla="val 7407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4BE120E-3978-4552-AA50-147FFDAA5568}"/>
              </a:ext>
            </a:extLst>
          </p:cNvPr>
          <p:cNvSpPr>
            <a:spLocks noGrp="1"/>
          </p:cNvSpPr>
          <p:nvPr/>
        </p:nvSpPr>
        <p:spPr>
          <a:xfrm>
            <a:off x="6324600" y="4943475"/>
            <a:ext cx="361950" cy="361950"/>
          </a:xfrm>
          <a:prstGeom prst="rect">
            <a:avLst/>
          </a:prstGeom>
          <a:solidFill>
            <a:srgbClr val="082C4E"/>
          </a:solidFill>
          <a:ln w="0">
            <a:solidFill>
              <a:srgbClr val="082C4E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C1BFEAA-592A-40FE-A214-C01772EA2C96}"/>
              </a:ext>
            </a:extLst>
          </p:cNvPr>
          <p:cNvSpPr>
            <a:spLocks noGrp="1"/>
          </p:cNvSpPr>
          <p:nvPr/>
        </p:nvSpPr>
        <p:spPr>
          <a:xfrm>
            <a:off x="6800850" y="4924425"/>
            <a:ext cx="48006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benchmark usa o mesmo período e a mesma exposição?</a:t>
            </a:r>
          </a:p>
        </p:txBody>
      </p:sp>
    </p:spTree>
    <p:extLst>
      <p:ext uri="{BB962C8B-B14F-4D97-AF65-F5344CB8AC3E}">
        <p14:creationId xmlns:p14="http://schemas.microsoft.com/office/powerpoint/2010/main" val="31814847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aixa-superior">
            <a:extLst>
              <a:ext uri="{FF2B5EF4-FFF2-40B4-BE49-F238E27FC236}">
                <a16:creationId xmlns:a16="http://schemas.microsoft.com/office/drawing/2014/main" id="{6EF84E99-1F64-44B1-8A69-C0364D62DF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C68035F9-AE08-4D29-BDC7-EB2CE6DE5F3F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F80AB90F-CA84-44E3-8043-CC03D83F20E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Relógio da decisão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C1E5E414-97B0-4CA7-ABF9-15F1664D2252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alvo executável começa depois que a informação se torna disponível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0949EF-D5D9-415A-8A91-E83BAE30E97B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CCAEE35-760C-498C-9A7A-86C551873D45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FA4EE0-E3A1-44FB-840A-3567D848DF99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2D84A44-85FD-420A-933E-4334B340B46D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AB53661-15C1-46C6-9CE4-8DF8CF5F6E2A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7D163EC-D812-4650-8251-E683FB9E8284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Fechamento de 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B1C1E4-C3CB-4E69-996C-7E695A8AED85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Calculamos os atributos com os dados conhecidos até o encerramento.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8633D3F-99DC-4335-9E0D-7961BB9E5037}"/>
              </a:ext>
            </a:extLst>
          </p:cNvPr>
          <p:cNvSpPr>
            <a:spLocks noGrp="1"/>
          </p:cNvSpPr>
          <p:nvPr/>
        </p:nvSpPr>
        <p:spPr>
          <a:xfrm>
            <a:off x="3309938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7C3DC2D-4025-4817-8100-CEDAE81C0FC4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43AA3D5-AE12-451B-B8BA-B3F4C2A12FED}"/>
              </a:ext>
            </a:extLst>
          </p:cNvPr>
          <p:cNvSpPr>
            <a:spLocks noGrp="1"/>
          </p:cNvSpPr>
          <p:nvPr/>
        </p:nvSpPr>
        <p:spPr>
          <a:xfrm>
            <a:off x="3443288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6A29AF6-E22A-4976-A150-306E4435E0A8}"/>
              </a:ext>
            </a:extLst>
          </p:cNvPr>
          <p:cNvSpPr>
            <a:spLocks noGrp="1"/>
          </p:cNvSpPr>
          <p:nvPr/>
        </p:nvSpPr>
        <p:spPr>
          <a:xfrm>
            <a:off x="3462338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Sinal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F760F13-AA64-4B45-9D52-8B744CBAC28C}"/>
              </a:ext>
            </a:extLst>
          </p:cNvPr>
          <p:cNvSpPr>
            <a:spLocks noGrp="1"/>
          </p:cNvSpPr>
          <p:nvPr/>
        </p:nvSpPr>
        <p:spPr>
          <a:xfrm>
            <a:off x="3462338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modelo produz a probabilidade após o fechamento.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3214348-65B3-4542-B9E2-317682A774CC}"/>
              </a:ext>
            </a:extLst>
          </p:cNvPr>
          <p:cNvSpPr>
            <a:spLocks noGrp="1"/>
          </p:cNvSpPr>
          <p:nvPr/>
        </p:nvSpPr>
        <p:spPr>
          <a:xfrm>
            <a:off x="6162675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6685D6B-D894-4B5C-87E8-630FF7896392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59A9785-5429-45A2-8161-B9A3FC36B50E}"/>
              </a:ext>
            </a:extLst>
          </p:cNvPr>
          <p:cNvSpPr>
            <a:spLocks noGrp="1"/>
          </p:cNvSpPr>
          <p:nvPr/>
        </p:nvSpPr>
        <p:spPr>
          <a:xfrm>
            <a:off x="6296025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A666004-802D-440F-8774-0981813BD525}"/>
              </a:ext>
            </a:extLst>
          </p:cNvPr>
          <p:cNvSpPr>
            <a:spLocks noGrp="1"/>
          </p:cNvSpPr>
          <p:nvPr/>
        </p:nvSpPr>
        <p:spPr>
          <a:xfrm>
            <a:off x="6315075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Abertura de t+1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3DCCA4D-B00A-46BD-944D-A74182374C89}"/>
              </a:ext>
            </a:extLst>
          </p:cNvPr>
          <p:cNvSpPr>
            <a:spLocks noGrp="1"/>
          </p:cNvSpPr>
          <p:nvPr/>
        </p:nvSpPr>
        <p:spPr>
          <a:xfrm>
            <a:off x="6315075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ordem entra em um preço observável após a decisão.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25BACA9-420A-4CF0-AC78-D3DA2398E271}"/>
              </a:ext>
            </a:extLst>
          </p:cNvPr>
          <p:cNvSpPr>
            <a:spLocks noGrp="1"/>
          </p:cNvSpPr>
          <p:nvPr/>
        </p:nvSpPr>
        <p:spPr>
          <a:xfrm>
            <a:off x="9015413" y="1809750"/>
            <a:ext cx="2719388" cy="2190750"/>
          </a:xfrm>
          <a:prstGeom prst="roundRect">
            <a:avLst>
              <a:gd name="adj" fmla="val 3478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ABD967F-55E3-4D64-9FD6-2FA1AC966408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082C4E"/>
          </a:solidFill>
          <a:ln w="0">
            <a:noFill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6C25336-B5CD-4253-A486-1F0774B59F85}"/>
              </a:ext>
            </a:extLst>
          </p:cNvPr>
          <p:cNvSpPr>
            <a:spLocks noGrp="1"/>
          </p:cNvSpPr>
          <p:nvPr/>
        </p:nvSpPr>
        <p:spPr>
          <a:xfrm>
            <a:off x="9148763" y="1943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EFE14CE-5219-460A-924F-DC7782A361FC}"/>
              </a:ext>
            </a:extLst>
          </p:cNvPr>
          <p:cNvSpPr>
            <a:spLocks noGrp="1"/>
          </p:cNvSpPr>
          <p:nvPr/>
        </p:nvSpPr>
        <p:spPr>
          <a:xfrm>
            <a:off x="9167813" y="2419350"/>
            <a:ext cx="2414588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Fechamento de t+1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472FC8F-52E2-45FD-A6E4-3802632F59C7}"/>
              </a:ext>
            </a:extLst>
          </p:cNvPr>
          <p:cNvSpPr>
            <a:spLocks noGrp="1"/>
          </p:cNvSpPr>
          <p:nvPr/>
        </p:nvSpPr>
        <p:spPr>
          <a:xfrm>
            <a:off x="9167813" y="2819400"/>
            <a:ext cx="2414588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O retorno do horizonte é apurado e comparado à Selic.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CE6302A-7543-4CA0-94DA-B4908831D770}"/>
              </a:ext>
            </a:extLst>
          </p:cNvPr>
          <p:cNvSpPr>
            <a:spLocks noGrp="1"/>
          </p:cNvSpPr>
          <p:nvPr/>
        </p:nvSpPr>
        <p:spPr>
          <a:xfrm>
            <a:off x="2190750" y="4572000"/>
            <a:ext cx="7810500" cy="857250"/>
          </a:xfrm>
          <a:prstGeom prst="roundRect">
            <a:avLst>
              <a:gd name="adj" fmla="val 8889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DB35FA7-400E-462B-9756-ED578CBA0AEB}"/>
              </a:ext>
            </a:extLst>
          </p:cNvPr>
          <p:cNvSpPr>
            <a:spLocks noGrp="1"/>
          </p:cNvSpPr>
          <p:nvPr/>
        </p:nvSpPr>
        <p:spPr>
          <a:xfrm>
            <a:off x="2428875" y="4714875"/>
            <a:ext cx="733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Alvo: fechamento(t+1) / abertura(t+1) - 1</a:t>
            </a:r>
          </a:p>
        </p:txBody>
      </p:sp>
    </p:spTree>
    <p:extLst>
      <p:ext uri="{BB962C8B-B14F-4D97-AF65-F5344CB8AC3E}">
        <p14:creationId xmlns:p14="http://schemas.microsoft.com/office/powerpoint/2010/main" val="8014231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aixa-superior">
            <a:extLst>
              <a:ext uri="{FF2B5EF4-FFF2-40B4-BE49-F238E27FC236}">
                <a16:creationId xmlns:a16="http://schemas.microsoft.com/office/drawing/2014/main" id="{9F671BA5-02D3-4A0C-BB59-2B11476951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7046F306-2673-48D8-BF38-01F927575850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EC649264-21D6-49F9-BBE1-A7289D7CC7D7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Baseline temporal e executável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D6132A68-B0D7-42AE-B711-6C04075881F2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Mesmo modelo, atributos permitidos e limiar fixo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609C56-CAE0-4840-981D-8E19594F55E8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DE1210-C135-46D3-AAFC-2EC2042640BD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5A421F0-A6F4-4C71-B0B5-A3706369ECFB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6858000" cy="4524375"/>
          </a:xfrm>
          <a:prstGeom prst="roundRect">
            <a:avLst>
              <a:gd name="adj" fmla="val 1684"/>
            </a:avLst>
          </a:prstGeom>
          <a:solidFill>
            <a:srgbClr val="082C4E"/>
          </a:solidFill>
          <a:ln w="9525">
            <a:solidFill>
              <a:srgbClr val="082C4E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571522-7A58-4A8F-8418-6DF75D652A08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6515100" cy="425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receita_correta &lt;- recipe(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supera_selic_executavel ~ .,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data = treino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update_role(data, amostra,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retorno_executavel, selic_executavel,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new_role = "id")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step_impute_median(all_numeric_predictors()) |&gt;</a:t>
            </a:r>
          </a:p>
          <a:p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step_normalize(all_numeric_predictors())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720D447-32B8-4083-9AAB-80B77FA9163D}"/>
              </a:ext>
            </a:extLst>
          </p:cNvPr>
          <p:cNvSpPr>
            <a:spLocks noGrp="1"/>
          </p:cNvSpPr>
          <p:nvPr/>
        </p:nvSpPr>
        <p:spPr>
          <a:xfrm>
            <a:off x="7620000" y="1285875"/>
            <a:ext cx="4114800" cy="4524375"/>
          </a:xfrm>
          <a:prstGeom prst="roundRect">
            <a:avLst>
              <a:gd name="adj" fmla="val 185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0A19725-1F98-4E53-AF3B-421892EE5EED}"/>
              </a:ext>
            </a:extLst>
          </p:cNvPr>
          <p:cNvSpPr>
            <a:spLocks noGrp="1"/>
          </p:cNvSpPr>
          <p:nvPr/>
        </p:nvSpPr>
        <p:spPr>
          <a:xfrm>
            <a:off x="7772400" y="140017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244F56-DA25-4B5B-8955-B070D7BFA14B}"/>
              </a:ext>
            </a:extLst>
          </p:cNvPr>
          <p:cNvSpPr>
            <a:spLocks noGrp="1"/>
          </p:cNvSpPr>
          <p:nvPr/>
        </p:nvSpPr>
        <p:spPr>
          <a:xfrm>
            <a:off x="7734300" y="1762125"/>
            <a:ext cx="3886200" cy="3933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Treino, validação e teste separados pelo tempo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Pré-processamento aprendido no treino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Entrada na abertura seguinte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32D37"/>
                </a:solidFill>
                <a:latin typeface="Aptos"/>
                <a:ea typeface="Aptos"/>
                <a:cs typeface="Aptos"/>
              </a:rPr>
              <a:t>Custo de 10 bps nas mudanças de posição</a:t>
            </a:r>
          </a:p>
        </p:txBody>
      </p:sp>
    </p:spTree>
    <p:extLst>
      <p:ext uri="{BB962C8B-B14F-4D97-AF65-F5344CB8AC3E}">
        <p14:creationId xmlns:p14="http://schemas.microsoft.com/office/powerpoint/2010/main" val="15876002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aixa-superior">
            <a:extLst>
              <a:ext uri="{FF2B5EF4-FFF2-40B4-BE49-F238E27FC236}">
                <a16:creationId xmlns:a16="http://schemas.microsoft.com/office/drawing/2014/main" id="{5D0927F0-45F0-4DC7-B296-0D0130B505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FC4548EA-7723-4591-AA6D-825D04661361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FC00FB1D-1805-4DB8-A502-081CCF7E9AA9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Leitura conjunta dos resultados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A0298324-E2A5-4941-BE30-1C5AB01C1BFF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script produz métricas preditivas e financeiras para os dois pipelines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36E6981-10C9-4153-8823-470ED699FEEC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601A27D-2F2D-446A-BF8B-9CF01473CC22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C478577-FC36-4E50-8081-6DAEF6C37C04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958A72C-509F-46D3-928C-09A32657F01C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Classificação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2991E0-431B-4925-B757-AD8EACBFED35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4D60405-3DDB-4981-88CA-D7915EDB9C4C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Mede ordenação, mas não garante execução rentável.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08F901A-A6D0-4473-BDCA-C434CF96B4A4}"/>
              </a:ext>
            </a:extLst>
          </p:cNvPr>
          <p:cNvSpPr>
            <a:spLocks noGrp="1"/>
          </p:cNvSpPr>
          <p:nvPr/>
        </p:nvSpPr>
        <p:spPr>
          <a:xfrm>
            <a:off x="3319463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661C44F-5946-4C8F-B06E-3DA4EF22D4BD}"/>
              </a:ext>
            </a:extLst>
          </p:cNvPr>
          <p:cNvSpPr>
            <a:spLocks noGrp="1"/>
          </p:cNvSpPr>
          <p:nvPr/>
        </p:nvSpPr>
        <p:spPr>
          <a:xfrm>
            <a:off x="3452813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Retorno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A315EF-8177-4487-854A-865B516922A9}"/>
              </a:ext>
            </a:extLst>
          </p:cNvPr>
          <p:cNvSpPr>
            <a:spLocks noGrp="1"/>
          </p:cNvSpPr>
          <p:nvPr/>
        </p:nvSpPr>
        <p:spPr>
          <a:xfrm>
            <a:off x="3452813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R anual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33ABCDE-7FAF-4C4C-8779-A982C566E2A4}"/>
              </a:ext>
            </a:extLst>
          </p:cNvPr>
          <p:cNvSpPr>
            <a:spLocks noGrp="1"/>
          </p:cNvSpPr>
          <p:nvPr/>
        </p:nvSpPr>
        <p:spPr>
          <a:xfrm>
            <a:off x="3509963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Precisa usar o mesmo horizonte e incluir custos.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8E8A669-F46F-439D-8EBA-1DE4B5D193DD}"/>
              </a:ext>
            </a:extLst>
          </p:cNvPr>
          <p:cNvSpPr>
            <a:spLocks noGrp="1"/>
          </p:cNvSpPr>
          <p:nvPr/>
        </p:nvSpPr>
        <p:spPr>
          <a:xfrm>
            <a:off x="6181725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082C4E"/>
          </a:solidFill>
          <a:ln w="9525">
            <a:solidFill>
              <a:srgbClr val="C6E0E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B3F3F0C-7732-4A9F-B824-C599AC7E5C9F}"/>
              </a:ext>
            </a:extLst>
          </p:cNvPr>
          <p:cNvSpPr>
            <a:spLocks noGrp="1"/>
          </p:cNvSpPr>
          <p:nvPr/>
        </p:nvSpPr>
        <p:spPr>
          <a:xfrm>
            <a:off x="6315075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Risco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A3C9354-3DDC-4CAE-98A2-D0658B0CC419}"/>
              </a:ext>
            </a:extLst>
          </p:cNvPr>
          <p:cNvSpPr>
            <a:spLocks noGrp="1"/>
          </p:cNvSpPr>
          <p:nvPr/>
        </p:nvSpPr>
        <p:spPr>
          <a:xfrm>
            <a:off x="6315075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Sharpe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7175133-09BA-4950-8D86-B71742AD0975}"/>
              </a:ext>
            </a:extLst>
          </p:cNvPr>
          <p:cNvSpPr>
            <a:spLocks noGrp="1"/>
          </p:cNvSpPr>
          <p:nvPr/>
        </p:nvSpPr>
        <p:spPr>
          <a:xfrm>
            <a:off x="6372225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Pode inflar quando o retorno contém informação futura.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7E65565-592E-412A-9DF3-F728B857A7BD}"/>
              </a:ext>
            </a:extLst>
          </p:cNvPr>
          <p:cNvSpPr>
            <a:spLocks noGrp="1"/>
          </p:cNvSpPr>
          <p:nvPr/>
        </p:nvSpPr>
        <p:spPr>
          <a:xfrm>
            <a:off x="9043988" y="1476375"/>
            <a:ext cx="2690813" cy="3143250"/>
          </a:xfrm>
          <a:prstGeom prst="roundRect">
            <a:avLst>
              <a:gd name="adj" fmla="val 283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72C5C1-96C4-4B57-8D10-41C1A92D5DE2}"/>
              </a:ext>
            </a:extLst>
          </p:cNvPr>
          <p:cNvSpPr>
            <a:spLocks noGrp="1"/>
          </p:cNvSpPr>
          <p:nvPr/>
        </p:nvSpPr>
        <p:spPr>
          <a:xfrm>
            <a:off x="9177338" y="1666875"/>
            <a:ext cx="2424113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Perda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524B008-1A40-4C59-9D9F-E8752CAA019D}"/>
              </a:ext>
            </a:extLst>
          </p:cNvPr>
          <p:cNvSpPr>
            <a:spLocks noGrp="1"/>
          </p:cNvSpPr>
          <p:nvPr/>
        </p:nvSpPr>
        <p:spPr>
          <a:xfrm>
            <a:off x="9177338" y="2333625"/>
            <a:ext cx="2424113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C95D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C95DD"/>
                </a:solidFill>
                <a:latin typeface="Aptos"/>
                <a:ea typeface="Aptos"/>
                <a:cs typeface="Aptos"/>
              </a:rPr>
              <a:t>MDD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03FFD0-6203-4C6F-AEFE-7033E7B4624D}"/>
              </a:ext>
            </a:extLst>
          </p:cNvPr>
          <p:cNvSpPr>
            <a:spLocks noGrp="1"/>
          </p:cNvSpPr>
          <p:nvPr/>
        </p:nvSpPr>
        <p:spPr>
          <a:xfrm>
            <a:off x="9234488" y="3333750"/>
            <a:ext cx="2309813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Ajuda a discutir o caminho, não apenas o ponto final.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E6B914D-FA09-4634-88D9-5388598D6CFF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8763000" cy="781050"/>
          </a:xfrm>
          <a:prstGeom prst="roundRect">
            <a:avLst>
              <a:gd name="adj" fmla="val 9756"/>
            </a:avLst>
          </a:prstGeom>
          <a:solidFill>
            <a:srgbClr val="C6E0EF"/>
          </a:solidFill>
          <a:ln w="9525">
            <a:solidFill>
              <a:srgbClr val="C6E0EF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5FAEC28-7777-4955-8679-D8CA92289144}"/>
              </a:ext>
            </a:extLst>
          </p:cNvPr>
          <p:cNvSpPr>
            <a:spLocks noGrp="1"/>
          </p:cNvSpPr>
          <p:nvPr/>
        </p:nvSpPr>
        <p:spPr>
          <a:xfrm>
            <a:off x="1952625" y="5095875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48"/>
          </a:bodyPr>
          <a:lstStyle/>
          <a:p>
            <a:pPr algn="ctr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A queda de desempenho após a auditoria constitui evidência de que a estratégia original não era confiável.</a:t>
            </a:r>
          </a:p>
        </p:txBody>
      </p:sp>
    </p:spTree>
    <p:extLst>
      <p:ext uri="{BB962C8B-B14F-4D97-AF65-F5344CB8AC3E}">
        <p14:creationId xmlns:p14="http://schemas.microsoft.com/office/powerpoint/2010/main" val="20928160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aixa-superior">
            <a:extLst>
              <a:ext uri="{FF2B5EF4-FFF2-40B4-BE49-F238E27FC236}">
                <a16:creationId xmlns:a16="http://schemas.microsoft.com/office/drawing/2014/main" id="{404C62FA-4AAD-455D-A947-2F015A4C7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AEEE6341-A9AA-4D1E-B160-332C3E2DC41B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8375F157-9A6C-45C6-92F1-E78572BB1B4F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Parecer de implantação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9CF1996D-BA0F-4A7B-A076-31B9C3930FA7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A decisão precisa relacionar evidência, limites e próximos testes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1BAAB31-7C3C-4D78-9D64-D17FCACAF012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7CB4E31-5E12-490C-B9E6-83929A8602D0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F5E4929-7CE7-485F-ABAE-D2AD5D8F2210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3911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4FA3A10-E3CD-49B8-9414-CF71FE8FC5FE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Evidências exigidas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B1C0404-03A1-43C7-82A6-DD78675F92BE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1625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Integridade temporal da base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Preço e horário de execução definidos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Resultado líquido de custos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Benchmark equivalente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Teste final usado uma única vez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14E14DB-F2B8-48B1-8A69-86D0586FA8C4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4476750"/>
          </a:xfrm>
          <a:prstGeom prst="roundRect">
            <a:avLst>
              <a:gd name="adj" fmla="val 1702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0C5473-4AE4-4138-BD76-4BEE735C405D}"/>
              </a:ext>
            </a:extLst>
          </p:cNvPr>
          <p:cNvSpPr>
            <a:spLocks noGrp="1"/>
          </p:cNvSpPr>
          <p:nvPr/>
        </p:nvSpPr>
        <p:spPr>
          <a:xfrm>
            <a:off x="6267450" y="14478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Decisões possíveis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BFBF2A-38BE-4D66-800E-C002826FE602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391150" cy="388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Rejeitar o pipeline contaminado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Manter o baseline em simulação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Solicitar nova validação walk-forward</a:t>
            </a:r>
          </a:p>
          <a:p>
            <a:pPr marL="228600" indent="-114300">
              <a:spcAft>
                <a:spcPts val="700"/>
              </a:spcAft>
              <a:buChar char="•"/>
              <a:defRPr sz="135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32D37"/>
                </a:solidFill>
                <a:latin typeface="Aptos"/>
                <a:ea typeface="Aptos"/>
                <a:cs typeface="Aptos"/>
              </a:rPr>
              <a:t>Documentar limitações e responsáveis</a:t>
            </a:r>
          </a:p>
        </p:txBody>
      </p:sp>
    </p:spTree>
    <p:extLst>
      <p:ext uri="{BB962C8B-B14F-4D97-AF65-F5344CB8AC3E}">
        <p14:creationId xmlns:p14="http://schemas.microsoft.com/office/powerpoint/2010/main" val="12370760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aixa-superior">
            <a:extLst>
              <a:ext uri="{FF2B5EF4-FFF2-40B4-BE49-F238E27FC236}">
                <a16:creationId xmlns:a16="http://schemas.microsoft.com/office/drawing/2014/main" id="{348A7F3E-C9F8-44E9-B1AC-4FFCAAB953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2" name="faixa-inferior">
            <a:extLst>
              <a:ext uri="{FF2B5EF4-FFF2-40B4-BE49-F238E27FC236}">
                <a16:creationId xmlns:a16="http://schemas.microsoft.com/office/drawing/2014/main" id="{CC9C6C06-0FA7-428A-8699-C1F8E947B228}"/>
              </a:ext>
            </a:extLst>
          </p:cNvPr>
          <p:cNvSpPr>
            <a:spLocks noGrp="1"/>
          </p:cNvSpPr>
          <p:nvPr/>
        </p:nvSpPr>
        <p:spPr>
          <a:xfrm>
            <a:off x="0" y="6657975"/>
            <a:ext cx="12192000" cy="200025"/>
          </a:xfrm>
          <a:prstGeom prst="rect">
            <a:avLst/>
          </a:prstGeom>
          <a:solidFill>
            <a:srgbClr val="082C4E"/>
          </a:solidFill>
          <a:ln w="0">
            <a:noFill/>
          </a:ln>
        </p:spPr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0282848A-0B91-46BF-9714-4A326C12B935}"/>
              </a:ext>
            </a:extLst>
          </p:cNvPr>
          <p:cNvSpPr>
            <a:spLocks noGrp="1"/>
          </p:cNvSpPr>
          <p:nvPr/>
        </p:nvSpPr>
        <p:spPr>
          <a:xfrm>
            <a:off x="419100" y="29527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Conclusão da auditoria</a:t>
            </a:r>
          </a:p>
        </p:txBody>
      </p:sp>
      <p:sp>
        <p:nvSpPr>
          <p:cNvPr id="4" name="subtitulo">
            <a:extLst>
              <a:ext uri="{FF2B5EF4-FFF2-40B4-BE49-F238E27FC236}">
                <a16:creationId xmlns:a16="http://schemas.microsoft.com/office/drawing/2014/main" id="{0583F789-3B6D-4A51-850C-FC8C0C717730}"/>
              </a:ext>
            </a:extLst>
          </p:cNvPr>
          <p:cNvSpPr>
            <a:spLocks noGrp="1"/>
          </p:cNvSpPr>
          <p:nvPr/>
        </p:nvSpPr>
        <p:spPr>
          <a:xfrm>
            <a:off x="419100" y="7334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O principal produto do exercício é o diagnóstico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99ED76-40C9-4213-BFFF-463474BA2314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1762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EXERCÍCIO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D5178E-342F-4B90-A853-BAD015585E28}"/>
              </a:ext>
            </a:extLst>
          </p:cNvPr>
          <p:cNvSpPr>
            <a:spLocks noGrp="1"/>
          </p:cNvSpPr>
          <p:nvPr/>
        </p:nvSpPr>
        <p:spPr>
          <a:xfrm>
            <a:off x="11449050" y="638175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675" b="0">
                <a:solidFill>
                  <a:srgbClr val="5D697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9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E029316-4E8C-4FA9-A4F1-0EB9A395FEEE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10858500" cy="3714750"/>
          </a:xfrm>
          <a:prstGeom prst="roundRect">
            <a:avLst>
              <a:gd name="adj" fmla="val 2051"/>
            </a:avLst>
          </a:prstGeom>
          <a:solidFill>
            <a:srgbClr val="EBF5FA"/>
          </a:solidFill>
          <a:ln w="9525">
            <a:solidFill>
              <a:srgbClr val="C6E0EF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19B0100-0122-4124-9A69-39FBF35A8751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9906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082C4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2C4E"/>
                </a:solidFill>
                <a:latin typeface="Aptos"/>
                <a:ea typeface="Aptos"/>
                <a:cs typeface="Aptos"/>
              </a:rPr>
              <a:t>Qual erro produziu a maior parcela do falso desempenho?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12383C-40A3-46C8-AE0C-6A4F72F6BE99}"/>
              </a:ext>
            </a:extLst>
          </p:cNvPr>
          <p:cNvSpPr>
            <a:spLocks noGrp="1"/>
          </p:cNvSpPr>
          <p:nvPr/>
        </p:nvSpPr>
        <p:spPr>
          <a:xfrm>
            <a:off x="1714500" y="3238500"/>
            <a:ext cx="8763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resposta deve distinguir vazamento de alvo, uso da amostra futura, preço inexequível e ausência de custos.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1661802-FAEB-488C-9701-0E113DDF9B2E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49A9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A942"/>
                </a:solidFill>
                <a:latin typeface="Aptos"/>
                <a:ea typeface="Aptos"/>
                <a:cs typeface="Aptos"/>
              </a:rPr>
              <a:t>Uma auditoria bem-sucedida pode terminar sem uma estratégia implantável.</a:t>
            </a:r>
          </a:p>
        </p:txBody>
      </p:sp>
    </p:spTree>
    <p:extLst>
      <p:ext uri="{BB962C8B-B14F-4D97-AF65-F5344CB8AC3E}">
        <p14:creationId xmlns:p14="http://schemas.microsoft.com/office/powerpoint/2010/main" val="404787723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cursos_gustavo_2014">
  <a:themeElements>
    <a:clrScheme name="NPR2011">
      <a:dk1>
        <a:srgbClr val="000000"/>
      </a:dk1>
      <a:lt1>
        <a:srgbClr val="FFFFFF"/>
      </a:lt1>
      <a:dk2>
        <a:srgbClr val="007DC3"/>
      </a:dk2>
      <a:lt2>
        <a:srgbClr val="5F5F5F"/>
      </a:lt2>
      <a:accent1>
        <a:srgbClr val="2C95DD"/>
      </a:accent1>
      <a:accent2>
        <a:srgbClr val="49A942"/>
      </a:accent2>
      <a:accent3>
        <a:srgbClr val="74C167"/>
      </a:accent3>
      <a:accent4>
        <a:srgbClr val="FFC425"/>
      </a:accent4>
      <a:accent5>
        <a:srgbClr val="B5761B"/>
      </a:accent5>
      <a:accent6>
        <a:srgbClr val="A80000"/>
      </a:accent6>
      <a:hlink>
        <a:srgbClr val="0070C0"/>
      </a:hlink>
      <a:folHlink>
        <a:srgbClr val="49A942"/>
      </a:folHlink>
    </a:clrScheme>
    <a:fontScheme name="NPR2011Template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81215</TotalTime>
  <Words>7102</Words>
  <Application>Microsoft Office PowerPoint</Application>
  <PresentationFormat>Widescreen</PresentationFormat>
  <Paragraphs>1183</Paragraphs>
  <Slides>87</Slides>
  <Notes>62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87</vt:i4>
      </vt:variant>
    </vt:vector>
  </HeadingPairs>
  <TitlesOfParts>
    <vt:vector size="98" baseType="lpstr">
      <vt:lpstr>Corbel</vt:lpstr>
      <vt:lpstr>Courier New</vt:lpstr>
      <vt:lpstr>Wingdings</vt:lpstr>
      <vt:lpstr>Calibri</vt:lpstr>
      <vt:lpstr>Webdings</vt:lpstr>
      <vt:lpstr>Arial</vt:lpstr>
      <vt:lpstr>Calibri Light</vt:lpstr>
      <vt:lpstr>Aptos</vt:lpstr>
      <vt:lpstr>Myriad Pro</vt:lpstr>
      <vt:lpstr>Template_cursos_gustavo_2014</vt:lpstr>
      <vt:lpstr>1_Tema do Office</vt:lpstr>
      <vt:lpstr>IA Aplicada à Gestão de Investimentos</vt:lpstr>
      <vt:lpstr>Professor, Agenda, Avaliação</vt:lpstr>
      <vt:lpstr>Cenário Tecnológico</vt:lpstr>
      <vt:lpstr>Evolução Tecnológica</vt:lpstr>
      <vt:lpstr>A Escolha do Modelo: Não Supervisionado ou Supervisionado?  Predição de Valor ou de Categoria?</vt:lpstr>
      <vt:lpstr>LLMs: Uma Idéia Simples ...</vt:lpstr>
      <vt:lpstr>LLMs: Uma Idéia Simples, Um Modelo Complexo, ...</vt:lpstr>
      <vt:lpstr>LLMs: Uma Idéia Simples, Um Modelo Complexo, Uma Execução ... Quase Impossível!</vt:lpstr>
      <vt:lpstr>Novas Soluções vs Antigas Questões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Backup Slides</vt:lpstr>
      <vt:lpstr>Gestão de Portólio e Estratégias de Trading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Bucknell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Lisa Veloz</dc:creator>
  <cp:lastModifiedBy>gustavo</cp:lastModifiedBy>
  <cp:revision>2831</cp:revision>
  <dcterms:created xsi:type="dcterms:W3CDTF">2004-02-07T16:14:30Z</dcterms:created>
  <dcterms:modified xsi:type="dcterms:W3CDTF">2026-09-29T21:41:40Z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2026-09-14T17:31:14Z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da544935-5b1e-4eb7-a776-4601ecc2d162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